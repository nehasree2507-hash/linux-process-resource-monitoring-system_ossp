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5A9E"/>
        </a:solidFill>
      </p:bgPr>
    </p:bg>
    <p:spTree>
      <p:nvGrpSpPr>
        <p:cNvPr id="1" name=""/>
        <p:cNvGrpSpPr/>
        <p:nvPr/>
      </p:nvGrpSpPr>
      <p:grpSpPr>
        <a:xfrm>
          <a:off x="0" y="0"/>
          <a:ext cx="0" cy="0"/>
          <a:chOff x="0" y="0"/>
          <a:chExt cx="0" cy="0"/>
        </a:xfrm>
      </p:grpSpPr>
      <p:sp>
        <p:nvSpPr>
          <p:cNvPr id="2" name="Shape 0"/>
          <p:cNvSpPr/>
          <p:nvPr/>
        </p:nvSpPr>
        <p:spPr>
          <a:xfrm>
            <a:off x="457200" y="914400"/>
            <a:ext cx="109728" cy="1463040"/>
          </a:xfrm>
          <a:prstGeom prst="rect">
            <a:avLst/>
          </a:prstGeom>
          <a:solidFill>
            <a:srgbClr val="5BB3F0"/>
          </a:solidFill>
          <a:ln w="12700">
            <a:solidFill>
              <a:srgbClr val="5BB3F0"/>
            </a:solidFill>
            <a:prstDash val="solid"/>
          </a:ln>
        </p:spPr>
      </p:sp>
      <p:sp>
        <p:nvSpPr>
          <p:cNvPr id="3" name="Text 1"/>
          <p:cNvSpPr txBox="1"/>
          <p:nvPr/>
        </p:nvSpPr>
        <p:spPr>
          <a:xfrm>
            <a:off x="777240" y="82296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Linux Process Resource Monitoring System</a:t>
            </a:r>
            <a:endParaRPr lang="en-US" sz="3600" dirty="0"/>
          </a:p>
        </p:txBody>
      </p:sp>
      <p:sp>
        <p:nvSpPr>
          <p:cNvPr id="4" name="Text 2"/>
          <p:cNvSpPr txBox="1"/>
          <p:nvPr/>
        </p:nvSpPr>
        <p:spPr>
          <a:xfrm>
            <a:off x="777240" y="1965960"/>
            <a:ext cx="7772400" cy="457200"/>
          </a:xfrm>
          <a:prstGeom prst="rect">
            <a:avLst/>
          </a:prstGeom>
          <a:noFill/>
          <a:ln/>
        </p:spPr>
        <p:txBody>
          <a:bodyPr wrap="square" lIns="0" tIns="0" rIns="0" bIns="0" rtlCol="0" anchor="ctr"/>
          <a:lstStyle/>
          <a:p>
            <a:pPr indent="0" marL="0">
              <a:buNone/>
            </a:pPr>
            <a:r>
              <a:rPr lang="en-US" sz="1600" dirty="0">
                <a:solidFill>
                  <a:srgbClr val="DCEBF7"/>
                </a:solidFill>
                <a:latin typeface="Calibri" pitchFamily="34" charset="0"/>
                <a:ea typeface="Calibri" pitchFamily="34" charset="-122"/>
                <a:cs typeface="Calibri" pitchFamily="34" charset="-120"/>
              </a:rPr>
              <a:t>Operating Systems and Systems Programming (25CS2104E)  |  2026–27, Term-I</a:t>
            </a:r>
            <a:endParaRPr lang="en-US" sz="1600" dirty="0"/>
          </a:p>
        </p:txBody>
      </p:sp>
      <p:sp>
        <p:nvSpPr>
          <p:cNvPr id="5" name="Text 3"/>
          <p:cNvSpPr txBox="1"/>
          <p:nvPr/>
        </p:nvSpPr>
        <p:spPr>
          <a:xfrm>
            <a:off x="777240" y="2743200"/>
            <a:ext cx="7315200" cy="365760"/>
          </a:xfrm>
          <a:prstGeom prst="rect">
            <a:avLst/>
          </a:prstGeom>
          <a:noFill/>
          <a:ln/>
        </p:spPr>
        <p:txBody>
          <a:bodyPr wrap="square" lIns="0" tIns="0" rIns="0" bIns="0" rtlCol="0" anchor="ctr"/>
          <a:lstStyle/>
          <a:p>
            <a:pPr indent="0" marL="0">
              <a:buNone/>
            </a:pPr>
            <a:r>
              <a:rPr lang="en-US" sz="1800" b="1" dirty="0">
                <a:solidFill>
                  <a:srgbClr val="FFC2B5"/>
                </a:solidFill>
                <a:latin typeface="Calibri" pitchFamily="34" charset="0"/>
                <a:ea typeface="Calibri" pitchFamily="34" charset="-122"/>
                <a:cs typeface="Calibri" pitchFamily="34" charset="-120"/>
              </a:rPr>
              <a:t>Section 03   •   Team 07</a:t>
            </a:r>
            <a:endParaRPr lang="en-US" sz="1800" dirty="0"/>
          </a:p>
        </p:txBody>
      </p:sp>
      <p:sp>
        <p:nvSpPr>
          <p:cNvPr id="6" name="Text 4"/>
          <p:cNvSpPr txBox="1"/>
          <p:nvPr/>
        </p:nvSpPr>
        <p:spPr>
          <a:xfrm>
            <a:off x="777240" y="3200400"/>
            <a:ext cx="7315200" cy="1097280"/>
          </a:xfrm>
          <a:prstGeom prst="rect">
            <a:avLst/>
          </a:prstGeom>
          <a:noFill/>
          <a:ln/>
        </p:spPr>
        <p:txBody>
          <a:bodyPr wrap="square" lIns="0" tIns="0" rIns="0" bIns="0" rtlCol="0" anchor="ctr"/>
          <a:lstStyle/>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2520030010  –  G. Boomika Sre</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2520030174  –  P. Nehasree</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2520030282  –  P. Hasini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This Project?</a:t>
            </a:r>
            <a:endParaRPr lang="en-US" sz="2800" dirty="0"/>
          </a:p>
        </p:txBody>
      </p:sp>
      <p:sp>
        <p:nvSpPr>
          <p:cNvPr id="5" name="Text 3"/>
          <p:cNvSpPr txBox="1"/>
          <p:nvPr/>
        </p:nvSpPr>
        <p:spPr>
          <a:xfrm>
            <a:off x="457200" y="1097280"/>
            <a:ext cx="8229600" cy="100584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Your computer runs many programs at the same time. Each running program is called a process. Some use a lot of CPU or memory and make the computer slow.</a:t>
            </a:r>
            <a:endParaRPr lang="en-US" sz="1800" dirty="0"/>
          </a:p>
        </p:txBody>
      </p:sp>
      <p:sp>
        <p:nvSpPr>
          <p:cNvPr id="6" name="Text 4"/>
          <p:cNvSpPr txBox="1"/>
          <p:nvPr/>
        </p:nvSpPr>
        <p:spPr>
          <a:xfrm>
            <a:off x="457200" y="2194560"/>
            <a:ext cx="8229600" cy="100584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Our project is a small C program for Linux. It reads the /proc folder and shows all running processes in the terminal. You can also stop a process from it.</a:t>
            </a:r>
            <a:endParaRPr lang="en-US" sz="1800" dirty="0"/>
          </a:p>
        </p:txBody>
      </p:sp>
      <p:sp>
        <p:nvSpPr>
          <p:cNvPr id="7" name="Shape 5"/>
          <p:cNvSpPr/>
          <p:nvPr/>
        </p:nvSpPr>
        <p:spPr>
          <a:xfrm>
            <a:off x="457200" y="3566160"/>
            <a:ext cx="8229600" cy="914400"/>
          </a:xfrm>
          <a:prstGeom prst="roundRect">
            <a:avLst>
              <a:gd name="adj" fmla="val 10000"/>
            </a:avLst>
          </a:prstGeom>
          <a:solidFill>
            <a:srgbClr val="2F8FD0"/>
          </a:solidFill>
          <a:ln w="12700">
            <a:solidFill>
              <a:srgbClr val="2F8FD0"/>
            </a:solidFill>
            <a:prstDash val="solid"/>
          </a:ln>
        </p:spPr>
      </p:sp>
      <p:sp>
        <p:nvSpPr>
          <p:cNvPr id="8" name="Text 6"/>
          <p:cNvSpPr txBox="1"/>
          <p:nvPr/>
        </p:nvSpPr>
        <p:spPr>
          <a:xfrm>
            <a:off x="640080" y="3566160"/>
            <a:ext cx="786384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Think of it as a simple Task Manager for Linux.</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5" name="Shape 3"/>
          <p:cNvSpPr/>
          <p:nvPr/>
        </p:nvSpPr>
        <p:spPr>
          <a:xfrm>
            <a:off x="457200" y="1188720"/>
            <a:ext cx="91440" cy="3291840"/>
          </a:xfrm>
          <a:prstGeom prst="rect">
            <a:avLst/>
          </a:prstGeom>
          <a:solidFill>
            <a:srgbClr val="FF7A66"/>
          </a:solidFill>
          <a:ln w="12700">
            <a:solidFill>
              <a:srgbClr val="FF7A66"/>
            </a:solidFill>
            <a:prstDash val="solid"/>
          </a:ln>
        </p:spPr>
      </p:sp>
      <p:sp>
        <p:nvSpPr>
          <p:cNvPr id="6" name="Text 4"/>
          <p:cNvSpPr txBox="1"/>
          <p:nvPr/>
        </p:nvSpPr>
        <p:spPr>
          <a:xfrm>
            <a:off x="777240" y="1188720"/>
            <a:ext cx="7863840" cy="329184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Linux runs many processes at once, and each one uses CPU time and memory. When there are too many, it is hard to see which ones are running, what they are doing, and how much they use. One process that uses too much, or stays active for no reason, can slow down the whole computer. Users need a simple tool that shows each process’s ID, name, state, parent, CPU and memory in one clear screen.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Objectives</a:t>
            </a:r>
            <a:endParaRPr lang="en-US" sz="2800" dirty="0"/>
          </a:p>
        </p:txBody>
      </p:sp>
      <p:sp>
        <p:nvSpPr>
          <p:cNvPr id="5" name="Shape 3"/>
          <p:cNvSpPr/>
          <p:nvPr/>
        </p:nvSpPr>
        <p:spPr>
          <a:xfrm>
            <a:off x="457200" y="1143000"/>
            <a:ext cx="594360" cy="594360"/>
          </a:xfrm>
          <a:prstGeom prst="ellipse">
            <a:avLst/>
          </a:prstGeom>
          <a:solidFill>
            <a:srgbClr val="2F8FD0"/>
          </a:solidFill>
          <a:ln w="12700">
            <a:solidFill>
              <a:srgbClr val="2F8FD0"/>
            </a:solidFill>
            <a:prstDash val="solid"/>
          </a:ln>
        </p:spPr>
      </p:sp>
      <p:sp>
        <p:nvSpPr>
          <p:cNvPr id="6" name="Text 4"/>
          <p:cNvSpPr txBox="1"/>
          <p:nvPr/>
        </p:nvSpPr>
        <p:spPr>
          <a:xfrm>
            <a:off x="457200" y="1143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280160" y="1143000"/>
            <a:ext cx="7406640" cy="59436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Build a simple terminal tool in C that shows running processes.</a:t>
            </a:r>
            <a:endParaRPr lang="en-US" sz="1800" dirty="0"/>
          </a:p>
        </p:txBody>
      </p:sp>
      <p:sp>
        <p:nvSpPr>
          <p:cNvPr id="8" name="Shape 6"/>
          <p:cNvSpPr/>
          <p:nvPr/>
        </p:nvSpPr>
        <p:spPr>
          <a:xfrm>
            <a:off x="457200" y="1965960"/>
            <a:ext cx="594360" cy="594360"/>
          </a:xfrm>
          <a:prstGeom prst="ellipse">
            <a:avLst/>
          </a:prstGeom>
          <a:solidFill>
            <a:srgbClr val="2F8FD0"/>
          </a:solidFill>
          <a:ln w="12700">
            <a:solidFill>
              <a:srgbClr val="2F8FD0"/>
            </a:solidFill>
            <a:prstDash val="solid"/>
          </a:ln>
        </p:spPr>
      </p:sp>
      <p:sp>
        <p:nvSpPr>
          <p:cNvPr id="9" name="Text 7"/>
          <p:cNvSpPr txBox="1"/>
          <p:nvPr/>
        </p:nvSpPr>
        <p:spPr>
          <a:xfrm>
            <a:off x="457200" y="19659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280160" y="1965960"/>
            <a:ext cx="7406640" cy="59436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Read /proc to show PID, name, state, parent PID, CPU and memory.</a:t>
            </a:r>
            <a:endParaRPr lang="en-US" sz="1800" dirty="0"/>
          </a:p>
        </p:txBody>
      </p:sp>
      <p:sp>
        <p:nvSpPr>
          <p:cNvPr id="11" name="Shape 9"/>
          <p:cNvSpPr/>
          <p:nvPr/>
        </p:nvSpPr>
        <p:spPr>
          <a:xfrm>
            <a:off x="457200" y="2788920"/>
            <a:ext cx="594360" cy="594360"/>
          </a:xfrm>
          <a:prstGeom prst="ellipse">
            <a:avLst/>
          </a:prstGeom>
          <a:solidFill>
            <a:srgbClr val="2F8FD0"/>
          </a:solidFill>
          <a:ln w="12700">
            <a:solidFill>
              <a:srgbClr val="2F8FD0"/>
            </a:solidFill>
            <a:prstDash val="solid"/>
          </a:ln>
        </p:spPr>
      </p:sp>
      <p:sp>
        <p:nvSpPr>
          <p:cNvPr id="12" name="Text 10"/>
          <p:cNvSpPr txBox="1"/>
          <p:nvPr/>
        </p:nvSpPr>
        <p:spPr>
          <a:xfrm>
            <a:off x="457200" y="27889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280160" y="2788920"/>
            <a:ext cx="7406640" cy="59436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Practice Linux ideas: folders, files, process IDs, fork, wait and signals.</a:t>
            </a:r>
            <a:endParaRPr lang="en-US" sz="1800" dirty="0"/>
          </a:p>
        </p:txBody>
      </p:sp>
      <p:sp>
        <p:nvSpPr>
          <p:cNvPr id="14" name="Shape 12"/>
          <p:cNvSpPr/>
          <p:nvPr/>
        </p:nvSpPr>
        <p:spPr>
          <a:xfrm>
            <a:off x="457200" y="3611880"/>
            <a:ext cx="594360" cy="594360"/>
          </a:xfrm>
          <a:prstGeom prst="ellipse">
            <a:avLst/>
          </a:prstGeom>
          <a:solidFill>
            <a:srgbClr val="2F8FD0"/>
          </a:solidFill>
          <a:ln w="12700">
            <a:solidFill>
              <a:srgbClr val="2F8FD0"/>
            </a:solidFill>
            <a:prstDash val="solid"/>
          </a:ln>
        </p:spPr>
      </p:sp>
      <p:sp>
        <p:nvSpPr>
          <p:cNvPr id="15" name="Text 13"/>
          <p:cNvSpPr txBox="1"/>
          <p:nvPr/>
        </p:nvSpPr>
        <p:spPr>
          <a:xfrm>
            <a:off x="457200" y="36118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txBox="1"/>
          <p:nvPr/>
        </p:nvSpPr>
        <p:spPr>
          <a:xfrm>
            <a:off x="1280160" y="3611880"/>
            <a:ext cx="7406640" cy="594360"/>
          </a:xfrm>
          <a:prstGeom prst="rect">
            <a:avLst/>
          </a:prstGeom>
          <a:noFill/>
          <a:ln/>
        </p:spPr>
        <p:txBody>
          <a:bodyPr wrap="square" lIns="0" tIns="0" rIns="0" bIns="0" rtlCol="0" anchor="ctr"/>
          <a:lstStyle/>
          <a:p>
            <a:pPr indent="0" marL="0">
              <a:buNone/>
            </a:pPr>
            <a:r>
              <a:rPr lang="en-US" sz="1800" dirty="0">
                <a:solidFill>
                  <a:srgbClr val="1B3556"/>
                </a:solidFill>
                <a:latin typeface="Calibri" pitchFamily="34" charset="0"/>
                <a:ea typeface="Calibri" pitchFamily="34" charset="-122"/>
                <a:cs typeface="Calibri" pitchFamily="34" charset="-120"/>
              </a:rPr>
              <a:t>Let users refresh the list and stop a process with SIGTERM.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How We Build It</a:t>
            </a:r>
            <a:endParaRPr lang="en-US" sz="2800" dirty="0"/>
          </a:p>
        </p:txBody>
      </p:sp>
      <p:sp>
        <p:nvSpPr>
          <p:cNvPr id="5" name="Shape 3"/>
          <p:cNvSpPr/>
          <p:nvPr/>
        </p:nvSpPr>
        <p:spPr>
          <a:xfrm>
            <a:off x="457200" y="1280160"/>
            <a:ext cx="1920240" cy="2743200"/>
          </a:xfrm>
          <a:prstGeom prst="roundRect">
            <a:avLst>
              <a:gd name="adj" fmla="val 4762"/>
            </a:avLst>
          </a:prstGeom>
          <a:solidFill>
            <a:srgbClr val="FFFFFF"/>
          </a:solidFill>
          <a:ln w="12700">
            <a:solidFill>
              <a:srgbClr val="B8D0E6"/>
            </a:solidFill>
            <a:prstDash val="solid"/>
          </a:ln>
        </p:spPr>
      </p:sp>
      <p:sp>
        <p:nvSpPr>
          <p:cNvPr id="6" name="Shape 4"/>
          <p:cNvSpPr/>
          <p:nvPr/>
        </p:nvSpPr>
        <p:spPr>
          <a:xfrm>
            <a:off x="457200" y="1280160"/>
            <a:ext cx="1920240" cy="73152"/>
          </a:xfrm>
          <a:prstGeom prst="rect">
            <a:avLst/>
          </a:prstGeom>
          <a:solidFill>
            <a:srgbClr val="5BB3F0"/>
          </a:solidFill>
          <a:ln w="12700">
            <a:solidFill>
              <a:srgbClr val="5BB3F0"/>
            </a:solidFill>
            <a:prstDash val="solid"/>
          </a:ln>
        </p:spPr>
      </p:sp>
      <p:sp>
        <p:nvSpPr>
          <p:cNvPr id="7" name="Text 5"/>
          <p:cNvSpPr txBox="1"/>
          <p:nvPr/>
        </p:nvSpPr>
        <p:spPr>
          <a:xfrm>
            <a:off x="640080" y="1463040"/>
            <a:ext cx="1554480" cy="548640"/>
          </a:xfrm>
          <a:prstGeom prst="rect">
            <a:avLst/>
          </a:prstGeom>
          <a:noFill/>
          <a:ln/>
        </p:spPr>
        <p:txBody>
          <a:bodyPr wrap="square" lIns="0" tIns="0" rIns="0" bIns="0" rtlCol="0" anchor="ctr"/>
          <a:lstStyle/>
          <a:p>
            <a:pPr indent="0" marL="0">
              <a:buNone/>
            </a:pPr>
            <a:r>
              <a:rPr lang="en-US" sz="3000" b="1" dirty="0">
                <a:solidFill>
                  <a:srgbClr val="1F6FB5"/>
                </a:solidFill>
                <a:latin typeface="Calibri" pitchFamily="34" charset="0"/>
                <a:ea typeface="Calibri" pitchFamily="34" charset="-122"/>
                <a:cs typeface="Calibri" pitchFamily="34" charset="-120"/>
              </a:rPr>
              <a:t>1</a:t>
            </a:r>
            <a:endParaRPr lang="en-US" sz="3000" dirty="0"/>
          </a:p>
        </p:txBody>
      </p:sp>
      <p:sp>
        <p:nvSpPr>
          <p:cNvPr id="8" name="Text 6"/>
          <p:cNvSpPr txBox="1"/>
          <p:nvPr/>
        </p:nvSpPr>
        <p:spPr>
          <a:xfrm>
            <a:off x="640080" y="2057400"/>
            <a:ext cx="1554480" cy="457200"/>
          </a:xfrm>
          <a:prstGeom prst="rect">
            <a:avLst/>
          </a:prstGeom>
          <a:noFill/>
          <a:ln/>
        </p:spPr>
        <p:txBody>
          <a:bodyPr wrap="square" lIns="0" tIns="0" rIns="0" bIns="0" rtlCol="0" anchor="ctr"/>
          <a:lstStyle/>
          <a:p>
            <a:pPr indent="0" marL="0">
              <a:buNone/>
            </a:pPr>
            <a:r>
              <a:rPr lang="en-US" sz="1700" b="1" dirty="0">
                <a:solidFill>
                  <a:srgbClr val="1B3556"/>
                </a:solidFill>
                <a:latin typeface="Calibri" pitchFamily="34" charset="0"/>
                <a:ea typeface="Calibri" pitchFamily="34" charset="-122"/>
                <a:cs typeface="Calibri" pitchFamily="34" charset="-120"/>
              </a:rPr>
              <a:t>Open /proc</a:t>
            </a:r>
            <a:endParaRPr lang="en-US" sz="1700" dirty="0"/>
          </a:p>
        </p:txBody>
      </p:sp>
      <p:sp>
        <p:nvSpPr>
          <p:cNvPr id="9" name="Text 7"/>
          <p:cNvSpPr txBox="1"/>
          <p:nvPr/>
        </p:nvSpPr>
        <p:spPr>
          <a:xfrm>
            <a:off x="640080" y="2560320"/>
            <a:ext cx="1554480" cy="1280160"/>
          </a:xfrm>
          <a:prstGeom prst="rect">
            <a:avLst/>
          </a:prstGeom>
          <a:noFill/>
          <a:ln/>
        </p:spPr>
        <p:txBody>
          <a:bodyPr wrap="square" lIns="0" tIns="0" rIns="0" bIns="0" rtlCol="0" anchor="t"/>
          <a:lstStyle/>
          <a:p>
            <a:pPr indent="0" marL="0">
              <a:buNone/>
            </a:pPr>
            <a:r>
              <a:rPr lang="en-US" sz="1400" dirty="0">
                <a:solidFill>
                  <a:srgbClr val="4A5B73"/>
                </a:solidFill>
                <a:latin typeface="Calibri" pitchFamily="34" charset="0"/>
                <a:ea typeface="Calibri" pitchFamily="34" charset="-122"/>
                <a:cs typeface="Calibri" pitchFamily="34" charset="-120"/>
              </a:rPr>
              <a:t>Read the /proc folder. It holds live data about every process.</a:t>
            </a:r>
            <a:endParaRPr lang="en-US" sz="1400" dirty="0"/>
          </a:p>
        </p:txBody>
      </p:sp>
      <p:sp>
        <p:nvSpPr>
          <p:cNvPr id="10" name="Shape 8"/>
          <p:cNvSpPr/>
          <p:nvPr/>
        </p:nvSpPr>
        <p:spPr>
          <a:xfrm>
            <a:off x="2560320" y="1280160"/>
            <a:ext cx="1920240" cy="2743200"/>
          </a:xfrm>
          <a:prstGeom prst="roundRect">
            <a:avLst>
              <a:gd name="adj" fmla="val 4762"/>
            </a:avLst>
          </a:prstGeom>
          <a:solidFill>
            <a:srgbClr val="FFFFFF"/>
          </a:solidFill>
          <a:ln w="12700">
            <a:solidFill>
              <a:srgbClr val="B8D0E6"/>
            </a:solidFill>
            <a:prstDash val="solid"/>
          </a:ln>
        </p:spPr>
      </p:sp>
      <p:sp>
        <p:nvSpPr>
          <p:cNvPr id="11" name="Shape 9"/>
          <p:cNvSpPr/>
          <p:nvPr/>
        </p:nvSpPr>
        <p:spPr>
          <a:xfrm>
            <a:off x="2560320" y="1280160"/>
            <a:ext cx="1920240" cy="73152"/>
          </a:xfrm>
          <a:prstGeom prst="rect">
            <a:avLst/>
          </a:prstGeom>
          <a:solidFill>
            <a:srgbClr val="5BB3F0"/>
          </a:solidFill>
          <a:ln w="12700">
            <a:solidFill>
              <a:srgbClr val="5BB3F0"/>
            </a:solidFill>
            <a:prstDash val="solid"/>
          </a:ln>
        </p:spPr>
      </p:sp>
      <p:sp>
        <p:nvSpPr>
          <p:cNvPr id="12" name="Text 10"/>
          <p:cNvSpPr txBox="1"/>
          <p:nvPr/>
        </p:nvSpPr>
        <p:spPr>
          <a:xfrm>
            <a:off x="2743200" y="1463040"/>
            <a:ext cx="1554480" cy="548640"/>
          </a:xfrm>
          <a:prstGeom prst="rect">
            <a:avLst/>
          </a:prstGeom>
          <a:noFill/>
          <a:ln/>
        </p:spPr>
        <p:txBody>
          <a:bodyPr wrap="square" lIns="0" tIns="0" rIns="0" bIns="0" rtlCol="0" anchor="ctr"/>
          <a:lstStyle/>
          <a:p>
            <a:pPr indent="0" marL="0">
              <a:buNone/>
            </a:pPr>
            <a:r>
              <a:rPr lang="en-US" sz="3000" b="1" dirty="0">
                <a:solidFill>
                  <a:srgbClr val="1F6FB5"/>
                </a:solidFill>
                <a:latin typeface="Calibri" pitchFamily="34" charset="0"/>
                <a:ea typeface="Calibri" pitchFamily="34" charset="-122"/>
                <a:cs typeface="Calibri" pitchFamily="34" charset="-120"/>
              </a:rPr>
              <a:t>2</a:t>
            </a:r>
            <a:endParaRPr lang="en-US" sz="3000" dirty="0"/>
          </a:p>
        </p:txBody>
      </p:sp>
      <p:sp>
        <p:nvSpPr>
          <p:cNvPr id="13" name="Text 11"/>
          <p:cNvSpPr txBox="1"/>
          <p:nvPr/>
        </p:nvSpPr>
        <p:spPr>
          <a:xfrm>
            <a:off x="2743200" y="2057400"/>
            <a:ext cx="1554480" cy="457200"/>
          </a:xfrm>
          <a:prstGeom prst="rect">
            <a:avLst/>
          </a:prstGeom>
          <a:noFill/>
          <a:ln/>
        </p:spPr>
        <p:txBody>
          <a:bodyPr wrap="square" lIns="0" tIns="0" rIns="0" bIns="0" rtlCol="0" anchor="ctr"/>
          <a:lstStyle/>
          <a:p>
            <a:pPr indent="0" marL="0">
              <a:buNone/>
            </a:pPr>
            <a:r>
              <a:rPr lang="en-US" sz="1700" b="1" dirty="0">
                <a:solidFill>
                  <a:srgbClr val="1B3556"/>
                </a:solidFill>
                <a:latin typeface="Calibri" pitchFamily="34" charset="0"/>
                <a:ea typeface="Calibri" pitchFamily="34" charset="-122"/>
                <a:cs typeface="Calibri" pitchFamily="34" charset="-120"/>
              </a:rPr>
              <a:t>Find Processes</a:t>
            </a:r>
            <a:endParaRPr lang="en-US" sz="1700" dirty="0"/>
          </a:p>
        </p:txBody>
      </p:sp>
      <p:sp>
        <p:nvSpPr>
          <p:cNvPr id="14" name="Text 12"/>
          <p:cNvSpPr txBox="1"/>
          <p:nvPr/>
        </p:nvSpPr>
        <p:spPr>
          <a:xfrm>
            <a:off x="2743200" y="2560320"/>
            <a:ext cx="1554480" cy="1280160"/>
          </a:xfrm>
          <a:prstGeom prst="rect">
            <a:avLst/>
          </a:prstGeom>
          <a:noFill/>
          <a:ln/>
        </p:spPr>
        <p:txBody>
          <a:bodyPr wrap="square" lIns="0" tIns="0" rIns="0" bIns="0" rtlCol="0" anchor="t"/>
          <a:lstStyle/>
          <a:p>
            <a:pPr indent="0" marL="0">
              <a:buNone/>
            </a:pPr>
            <a:r>
              <a:rPr lang="en-US" sz="1400" dirty="0">
                <a:solidFill>
                  <a:srgbClr val="4A5B73"/>
                </a:solidFill>
                <a:latin typeface="Calibri" pitchFamily="34" charset="0"/>
                <a:ea typeface="Calibri" pitchFamily="34" charset="-122"/>
                <a:cs typeface="Calibri" pitchFamily="34" charset="-120"/>
              </a:rPr>
              <a:t>Folders with number names are process IDs. Read the files inside.</a:t>
            </a:r>
            <a:endParaRPr lang="en-US" sz="1400" dirty="0"/>
          </a:p>
        </p:txBody>
      </p:sp>
      <p:sp>
        <p:nvSpPr>
          <p:cNvPr id="15" name="Shape 13"/>
          <p:cNvSpPr/>
          <p:nvPr/>
        </p:nvSpPr>
        <p:spPr>
          <a:xfrm>
            <a:off x="4663440" y="1280160"/>
            <a:ext cx="1920240" cy="2743200"/>
          </a:xfrm>
          <a:prstGeom prst="roundRect">
            <a:avLst>
              <a:gd name="adj" fmla="val 4762"/>
            </a:avLst>
          </a:prstGeom>
          <a:solidFill>
            <a:srgbClr val="FFFFFF"/>
          </a:solidFill>
          <a:ln w="12700">
            <a:solidFill>
              <a:srgbClr val="B8D0E6"/>
            </a:solidFill>
            <a:prstDash val="solid"/>
          </a:ln>
        </p:spPr>
      </p:sp>
      <p:sp>
        <p:nvSpPr>
          <p:cNvPr id="16" name="Shape 14"/>
          <p:cNvSpPr/>
          <p:nvPr/>
        </p:nvSpPr>
        <p:spPr>
          <a:xfrm>
            <a:off x="4663440" y="1280160"/>
            <a:ext cx="1920240" cy="73152"/>
          </a:xfrm>
          <a:prstGeom prst="rect">
            <a:avLst/>
          </a:prstGeom>
          <a:solidFill>
            <a:srgbClr val="5BB3F0"/>
          </a:solidFill>
          <a:ln w="12700">
            <a:solidFill>
              <a:srgbClr val="5BB3F0"/>
            </a:solidFill>
            <a:prstDash val="solid"/>
          </a:ln>
        </p:spPr>
      </p:sp>
      <p:sp>
        <p:nvSpPr>
          <p:cNvPr id="17" name="Text 15"/>
          <p:cNvSpPr txBox="1"/>
          <p:nvPr/>
        </p:nvSpPr>
        <p:spPr>
          <a:xfrm>
            <a:off x="4846320" y="1463040"/>
            <a:ext cx="1554480" cy="548640"/>
          </a:xfrm>
          <a:prstGeom prst="rect">
            <a:avLst/>
          </a:prstGeom>
          <a:noFill/>
          <a:ln/>
        </p:spPr>
        <p:txBody>
          <a:bodyPr wrap="square" lIns="0" tIns="0" rIns="0" bIns="0" rtlCol="0" anchor="ctr"/>
          <a:lstStyle/>
          <a:p>
            <a:pPr indent="0" marL="0">
              <a:buNone/>
            </a:pPr>
            <a:r>
              <a:rPr lang="en-US" sz="3000" b="1" dirty="0">
                <a:solidFill>
                  <a:srgbClr val="1F6FB5"/>
                </a:solidFill>
                <a:latin typeface="Calibri" pitchFamily="34" charset="0"/>
                <a:ea typeface="Calibri" pitchFamily="34" charset="-122"/>
                <a:cs typeface="Calibri" pitchFamily="34" charset="-120"/>
              </a:rPr>
              <a:t>3</a:t>
            </a:r>
            <a:endParaRPr lang="en-US" sz="3000" dirty="0"/>
          </a:p>
        </p:txBody>
      </p:sp>
      <p:sp>
        <p:nvSpPr>
          <p:cNvPr id="18" name="Text 16"/>
          <p:cNvSpPr txBox="1"/>
          <p:nvPr/>
        </p:nvSpPr>
        <p:spPr>
          <a:xfrm>
            <a:off x="4846320" y="2057400"/>
            <a:ext cx="1554480" cy="457200"/>
          </a:xfrm>
          <a:prstGeom prst="rect">
            <a:avLst/>
          </a:prstGeom>
          <a:noFill/>
          <a:ln/>
        </p:spPr>
        <p:txBody>
          <a:bodyPr wrap="square" lIns="0" tIns="0" rIns="0" bIns="0" rtlCol="0" anchor="ctr"/>
          <a:lstStyle/>
          <a:p>
            <a:pPr indent="0" marL="0">
              <a:buNone/>
            </a:pPr>
            <a:r>
              <a:rPr lang="en-US" sz="1700" b="1" dirty="0">
                <a:solidFill>
                  <a:srgbClr val="1B3556"/>
                </a:solidFill>
                <a:latin typeface="Calibri" pitchFamily="34" charset="0"/>
                <a:ea typeface="Calibri" pitchFamily="34" charset="-122"/>
                <a:cs typeface="Calibri" pitchFamily="34" charset="-120"/>
              </a:rPr>
              <a:t>Show Details</a:t>
            </a:r>
            <a:endParaRPr lang="en-US" sz="1700" dirty="0"/>
          </a:p>
        </p:txBody>
      </p:sp>
      <p:sp>
        <p:nvSpPr>
          <p:cNvPr id="19" name="Text 17"/>
          <p:cNvSpPr txBox="1"/>
          <p:nvPr/>
        </p:nvSpPr>
        <p:spPr>
          <a:xfrm>
            <a:off x="4846320" y="2560320"/>
            <a:ext cx="1554480" cy="1280160"/>
          </a:xfrm>
          <a:prstGeom prst="rect">
            <a:avLst/>
          </a:prstGeom>
          <a:noFill/>
          <a:ln/>
        </p:spPr>
        <p:txBody>
          <a:bodyPr wrap="square" lIns="0" tIns="0" rIns="0" bIns="0" rtlCol="0" anchor="t"/>
          <a:lstStyle/>
          <a:p>
            <a:pPr indent="0" marL="0">
              <a:buNone/>
            </a:pPr>
            <a:r>
              <a:rPr lang="en-US" sz="1400" dirty="0">
                <a:solidFill>
                  <a:srgbClr val="4A5B73"/>
                </a:solidFill>
                <a:latin typeface="Calibri" pitchFamily="34" charset="0"/>
                <a:ea typeface="Calibri" pitchFamily="34" charset="-122"/>
                <a:cs typeface="Calibri" pitchFamily="34" charset="-120"/>
              </a:rPr>
              <a:t>Pick out the data and print it in a neat table.</a:t>
            </a:r>
            <a:endParaRPr lang="en-US" sz="1400" dirty="0"/>
          </a:p>
        </p:txBody>
      </p:sp>
      <p:sp>
        <p:nvSpPr>
          <p:cNvPr id="20" name="Shape 18"/>
          <p:cNvSpPr/>
          <p:nvPr/>
        </p:nvSpPr>
        <p:spPr>
          <a:xfrm>
            <a:off x="6766560" y="1280160"/>
            <a:ext cx="1920240" cy="2743200"/>
          </a:xfrm>
          <a:prstGeom prst="roundRect">
            <a:avLst>
              <a:gd name="adj" fmla="val 4762"/>
            </a:avLst>
          </a:prstGeom>
          <a:solidFill>
            <a:srgbClr val="FFFFFF"/>
          </a:solidFill>
          <a:ln w="12700">
            <a:solidFill>
              <a:srgbClr val="B8D0E6"/>
            </a:solidFill>
            <a:prstDash val="solid"/>
          </a:ln>
        </p:spPr>
      </p:sp>
      <p:sp>
        <p:nvSpPr>
          <p:cNvPr id="21" name="Shape 19"/>
          <p:cNvSpPr/>
          <p:nvPr/>
        </p:nvSpPr>
        <p:spPr>
          <a:xfrm>
            <a:off x="6766560" y="1280160"/>
            <a:ext cx="1920240" cy="73152"/>
          </a:xfrm>
          <a:prstGeom prst="rect">
            <a:avLst/>
          </a:prstGeom>
          <a:solidFill>
            <a:srgbClr val="5BB3F0"/>
          </a:solidFill>
          <a:ln w="12700">
            <a:solidFill>
              <a:srgbClr val="5BB3F0"/>
            </a:solidFill>
            <a:prstDash val="solid"/>
          </a:ln>
        </p:spPr>
      </p:sp>
      <p:sp>
        <p:nvSpPr>
          <p:cNvPr id="22" name="Text 20"/>
          <p:cNvSpPr txBox="1"/>
          <p:nvPr/>
        </p:nvSpPr>
        <p:spPr>
          <a:xfrm>
            <a:off x="6949440" y="1463040"/>
            <a:ext cx="1554480" cy="548640"/>
          </a:xfrm>
          <a:prstGeom prst="rect">
            <a:avLst/>
          </a:prstGeom>
          <a:noFill/>
          <a:ln/>
        </p:spPr>
        <p:txBody>
          <a:bodyPr wrap="square" lIns="0" tIns="0" rIns="0" bIns="0" rtlCol="0" anchor="ctr"/>
          <a:lstStyle/>
          <a:p>
            <a:pPr indent="0" marL="0">
              <a:buNone/>
            </a:pPr>
            <a:r>
              <a:rPr lang="en-US" sz="3000" b="1" dirty="0">
                <a:solidFill>
                  <a:srgbClr val="1F6FB5"/>
                </a:solidFill>
                <a:latin typeface="Calibri" pitchFamily="34" charset="0"/>
                <a:ea typeface="Calibri" pitchFamily="34" charset="-122"/>
                <a:cs typeface="Calibri" pitchFamily="34" charset="-120"/>
              </a:rPr>
              <a:t>4</a:t>
            </a:r>
            <a:endParaRPr lang="en-US" sz="3000" dirty="0"/>
          </a:p>
        </p:txBody>
      </p:sp>
      <p:sp>
        <p:nvSpPr>
          <p:cNvPr id="23" name="Text 21"/>
          <p:cNvSpPr txBox="1"/>
          <p:nvPr/>
        </p:nvSpPr>
        <p:spPr>
          <a:xfrm>
            <a:off x="6949440" y="2057400"/>
            <a:ext cx="1554480" cy="457200"/>
          </a:xfrm>
          <a:prstGeom prst="rect">
            <a:avLst/>
          </a:prstGeom>
          <a:noFill/>
          <a:ln/>
        </p:spPr>
        <p:txBody>
          <a:bodyPr wrap="square" lIns="0" tIns="0" rIns="0" bIns="0" rtlCol="0" anchor="ctr"/>
          <a:lstStyle/>
          <a:p>
            <a:pPr indent="0" marL="0">
              <a:buNone/>
            </a:pPr>
            <a:r>
              <a:rPr lang="en-US" sz="1700" b="1" dirty="0">
                <a:solidFill>
                  <a:srgbClr val="1B3556"/>
                </a:solidFill>
                <a:latin typeface="Calibri" pitchFamily="34" charset="0"/>
                <a:ea typeface="Calibri" pitchFamily="34" charset="-122"/>
                <a:cs typeface="Calibri" pitchFamily="34" charset="-120"/>
              </a:rPr>
              <a:t>User Actions</a:t>
            </a:r>
            <a:endParaRPr lang="en-US" sz="1700" dirty="0"/>
          </a:p>
        </p:txBody>
      </p:sp>
      <p:sp>
        <p:nvSpPr>
          <p:cNvPr id="24" name="Text 22"/>
          <p:cNvSpPr txBox="1"/>
          <p:nvPr/>
        </p:nvSpPr>
        <p:spPr>
          <a:xfrm>
            <a:off x="6949440" y="2560320"/>
            <a:ext cx="1554480" cy="1280160"/>
          </a:xfrm>
          <a:prstGeom prst="rect">
            <a:avLst/>
          </a:prstGeom>
          <a:noFill/>
          <a:ln/>
        </p:spPr>
        <p:txBody>
          <a:bodyPr wrap="square" lIns="0" tIns="0" rIns="0" bIns="0" rtlCol="0" anchor="t"/>
          <a:lstStyle/>
          <a:p>
            <a:pPr indent="0" marL="0">
              <a:buNone/>
            </a:pPr>
            <a:r>
              <a:rPr lang="en-US" sz="1400" dirty="0">
                <a:solidFill>
                  <a:srgbClr val="4A5B73"/>
                </a:solidFill>
                <a:latin typeface="Calibri" pitchFamily="34" charset="0"/>
                <a:ea typeface="Calibri" pitchFamily="34" charset="-122"/>
                <a:cs typeface="Calibri" pitchFamily="34" charset="-120"/>
              </a:rPr>
              <a:t>Refresh the list, search, or stop a process.</a:t>
            </a:r>
            <a:endParaRPr lang="en-US" sz="1400" dirty="0"/>
          </a:p>
        </p:txBody>
      </p:sp>
      <p:sp>
        <p:nvSpPr>
          <p:cNvPr id="25" name="Text 23"/>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400" i="1" dirty="0">
                <a:solidFill>
                  <a:srgbClr val="4A5B73"/>
                </a:solidFill>
                <a:latin typeface="Calibri" pitchFamily="34" charset="0"/>
                <a:ea typeface="Calibri" pitchFamily="34" charset="-122"/>
                <a:cs typeface="Calibri" pitchFamily="34" charset="-120"/>
              </a:rPr>
              <a:t>Errors like wrong PID or no permission show a clear message.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How It Works</a:t>
            </a:r>
            <a:endParaRPr lang="en-US" sz="2800" dirty="0"/>
          </a:p>
        </p:txBody>
      </p:sp>
      <p:sp>
        <p:nvSpPr>
          <p:cNvPr id="5" name="Shape 3"/>
          <p:cNvSpPr/>
          <p:nvPr/>
        </p:nvSpPr>
        <p:spPr>
          <a:xfrm>
            <a:off x="457200" y="1371600"/>
            <a:ext cx="2286000" cy="1005840"/>
          </a:xfrm>
          <a:prstGeom prst="roundRect">
            <a:avLst>
              <a:gd name="adj" fmla="val 9091"/>
            </a:avLst>
          </a:prstGeom>
          <a:solidFill>
            <a:srgbClr val="1F5A9E"/>
          </a:solidFill>
          <a:ln w="12700">
            <a:solidFill>
              <a:srgbClr val="1F5A9E"/>
            </a:solidFill>
            <a:prstDash val="solid"/>
          </a:ln>
        </p:spPr>
      </p:sp>
      <p:sp>
        <p:nvSpPr>
          <p:cNvPr id="6" name="Text 4"/>
          <p:cNvSpPr txBox="1"/>
          <p:nvPr/>
        </p:nvSpPr>
        <p:spPr>
          <a:xfrm>
            <a:off x="457200" y="137160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User</a:t>
            </a:r>
            <a:endParaRPr lang="en-US" sz="1700" dirty="0"/>
          </a:p>
        </p:txBody>
      </p:sp>
      <p:sp>
        <p:nvSpPr>
          <p:cNvPr id="7" name="Text 5"/>
          <p:cNvSpPr txBox="1"/>
          <p:nvPr/>
        </p:nvSpPr>
        <p:spPr>
          <a:xfrm>
            <a:off x="2743200" y="1371600"/>
            <a:ext cx="548640" cy="1005840"/>
          </a:xfrm>
          <a:prstGeom prst="rect">
            <a:avLst/>
          </a:prstGeom>
          <a:noFill/>
          <a:ln/>
        </p:spPr>
        <p:txBody>
          <a:bodyPr wrap="square" lIns="0" tIns="0" rIns="0" bIns="0" rtlCol="0" anchor="ctr"/>
          <a:lstStyle/>
          <a:p>
            <a:pPr algn="ctr" indent="0" marL="0">
              <a:buNone/>
            </a:pPr>
            <a:r>
              <a:rPr lang="en-US" sz="2800" b="1" dirty="0">
                <a:solidFill>
                  <a:srgbClr val="D9472F"/>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a:off x="3291840" y="1371600"/>
            <a:ext cx="2286000" cy="1005840"/>
          </a:xfrm>
          <a:prstGeom prst="roundRect">
            <a:avLst>
              <a:gd name="adj" fmla="val 9091"/>
            </a:avLst>
          </a:prstGeom>
          <a:solidFill>
            <a:srgbClr val="2F8FD0"/>
          </a:solidFill>
          <a:ln w="12700">
            <a:solidFill>
              <a:srgbClr val="2F8FD0"/>
            </a:solidFill>
            <a:prstDash val="solid"/>
          </a:ln>
        </p:spPr>
      </p:sp>
      <p:sp>
        <p:nvSpPr>
          <p:cNvPr id="9" name="Text 7"/>
          <p:cNvSpPr txBox="1"/>
          <p:nvPr/>
        </p:nvSpPr>
        <p:spPr>
          <a:xfrm>
            <a:off x="3291840" y="137160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Process Monitor</a:t>
            </a:r>
            <a:endParaRPr lang="en-US" sz="1700" dirty="0"/>
          </a:p>
        </p:txBody>
      </p:sp>
      <p:sp>
        <p:nvSpPr>
          <p:cNvPr id="10" name="Text 8"/>
          <p:cNvSpPr txBox="1"/>
          <p:nvPr/>
        </p:nvSpPr>
        <p:spPr>
          <a:xfrm>
            <a:off x="5577840" y="1371600"/>
            <a:ext cx="548640" cy="1005840"/>
          </a:xfrm>
          <a:prstGeom prst="rect">
            <a:avLst/>
          </a:prstGeom>
          <a:noFill/>
          <a:ln/>
        </p:spPr>
        <p:txBody>
          <a:bodyPr wrap="square" lIns="0" tIns="0" rIns="0" bIns="0" rtlCol="0" anchor="ctr"/>
          <a:lstStyle/>
          <a:p>
            <a:pPr algn="ctr" indent="0" marL="0">
              <a:buNone/>
            </a:pPr>
            <a:r>
              <a:rPr lang="en-US" sz="2800" b="1" dirty="0">
                <a:solidFill>
                  <a:srgbClr val="D9472F"/>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6126480" y="1371600"/>
            <a:ext cx="2286000" cy="1005840"/>
          </a:xfrm>
          <a:prstGeom prst="roundRect">
            <a:avLst>
              <a:gd name="adj" fmla="val 9091"/>
            </a:avLst>
          </a:prstGeom>
          <a:solidFill>
            <a:srgbClr val="1F5A9E"/>
          </a:solidFill>
          <a:ln w="12700">
            <a:solidFill>
              <a:srgbClr val="1F5A9E"/>
            </a:solidFill>
            <a:prstDash val="solid"/>
          </a:ln>
        </p:spPr>
      </p:sp>
      <p:sp>
        <p:nvSpPr>
          <p:cNvPr id="12" name="Text 10"/>
          <p:cNvSpPr txBox="1"/>
          <p:nvPr/>
        </p:nvSpPr>
        <p:spPr>
          <a:xfrm>
            <a:off x="6126480" y="137160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/proc Folder</a:t>
            </a:r>
            <a:endParaRPr lang="en-US" sz="1700" dirty="0"/>
          </a:p>
        </p:txBody>
      </p:sp>
      <p:sp>
        <p:nvSpPr>
          <p:cNvPr id="13" name="Shape 11"/>
          <p:cNvSpPr/>
          <p:nvPr/>
        </p:nvSpPr>
        <p:spPr>
          <a:xfrm>
            <a:off x="457200" y="3017520"/>
            <a:ext cx="2286000" cy="1005840"/>
          </a:xfrm>
          <a:prstGeom prst="roundRect">
            <a:avLst>
              <a:gd name="adj" fmla="val 9091"/>
            </a:avLst>
          </a:prstGeom>
          <a:solidFill>
            <a:srgbClr val="2F8FD0"/>
          </a:solidFill>
          <a:ln w="12700">
            <a:solidFill>
              <a:srgbClr val="2F8FD0"/>
            </a:solidFill>
            <a:prstDash val="solid"/>
          </a:ln>
        </p:spPr>
      </p:sp>
      <p:sp>
        <p:nvSpPr>
          <p:cNvPr id="14" name="Text 12"/>
          <p:cNvSpPr txBox="1"/>
          <p:nvPr/>
        </p:nvSpPr>
        <p:spPr>
          <a:xfrm>
            <a:off x="457200" y="301752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Process Data</a:t>
            </a:r>
            <a:endParaRPr lang="en-US" sz="1700" dirty="0"/>
          </a:p>
        </p:txBody>
      </p:sp>
      <p:sp>
        <p:nvSpPr>
          <p:cNvPr id="15" name="Text 13"/>
          <p:cNvSpPr txBox="1"/>
          <p:nvPr/>
        </p:nvSpPr>
        <p:spPr>
          <a:xfrm>
            <a:off x="2743200" y="3017520"/>
            <a:ext cx="548640" cy="1005840"/>
          </a:xfrm>
          <a:prstGeom prst="rect">
            <a:avLst/>
          </a:prstGeom>
          <a:noFill/>
          <a:ln/>
        </p:spPr>
        <p:txBody>
          <a:bodyPr wrap="square" lIns="0" tIns="0" rIns="0" bIns="0" rtlCol="0" anchor="ctr"/>
          <a:lstStyle/>
          <a:p>
            <a:pPr algn="ctr" indent="0" marL="0">
              <a:buNone/>
            </a:pPr>
            <a:r>
              <a:rPr lang="en-US" sz="2800" b="1" dirty="0">
                <a:solidFill>
                  <a:srgbClr val="D9472F"/>
                </a:solidFill>
                <a:latin typeface="Calibri" pitchFamily="34" charset="0"/>
                <a:ea typeface="Calibri" pitchFamily="34" charset="-122"/>
                <a:cs typeface="Calibri" pitchFamily="34" charset="-120"/>
              </a:rPr>
              <a:t>→</a:t>
            </a:r>
            <a:endParaRPr lang="en-US" sz="2800" dirty="0"/>
          </a:p>
        </p:txBody>
      </p:sp>
      <p:sp>
        <p:nvSpPr>
          <p:cNvPr id="16" name="Shape 14"/>
          <p:cNvSpPr/>
          <p:nvPr/>
        </p:nvSpPr>
        <p:spPr>
          <a:xfrm>
            <a:off x="3291840" y="3017520"/>
            <a:ext cx="2286000" cy="1005840"/>
          </a:xfrm>
          <a:prstGeom prst="roundRect">
            <a:avLst>
              <a:gd name="adj" fmla="val 9091"/>
            </a:avLst>
          </a:prstGeom>
          <a:solidFill>
            <a:srgbClr val="1F5A9E"/>
          </a:solidFill>
          <a:ln w="12700">
            <a:solidFill>
              <a:srgbClr val="1F5A9E"/>
            </a:solidFill>
            <a:prstDash val="solid"/>
          </a:ln>
        </p:spPr>
      </p:sp>
      <p:sp>
        <p:nvSpPr>
          <p:cNvPr id="17" name="Text 15"/>
          <p:cNvSpPr txBox="1"/>
          <p:nvPr/>
        </p:nvSpPr>
        <p:spPr>
          <a:xfrm>
            <a:off x="3291840" y="301752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Terminal Display</a:t>
            </a:r>
            <a:endParaRPr lang="en-US" sz="1700" dirty="0"/>
          </a:p>
        </p:txBody>
      </p:sp>
      <p:sp>
        <p:nvSpPr>
          <p:cNvPr id="18" name="Text 16"/>
          <p:cNvSpPr txBox="1"/>
          <p:nvPr/>
        </p:nvSpPr>
        <p:spPr>
          <a:xfrm>
            <a:off x="5577840" y="3017520"/>
            <a:ext cx="548640" cy="1005840"/>
          </a:xfrm>
          <a:prstGeom prst="rect">
            <a:avLst/>
          </a:prstGeom>
          <a:noFill/>
          <a:ln/>
        </p:spPr>
        <p:txBody>
          <a:bodyPr wrap="square" lIns="0" tIns="0" rIns="0" bIns="0" rtlCol="0" anchor="ctr"/>
          <a:lstStyle/>
          <a:p>
            <a:pPr algn="ctr" indent="0" marL="0">
              <a:buNone/>
            </a:pPr>
            <a:r>
              <a:rPr lang="en-US" sz="2800" b="1" dirty="0">
                <a:solidFill>
                  <a:srgbClr val="D9472F"/>
                </a:solidFill>
                <a:latin typeface="Calibri" pitchFamily="34" charset="0"/>
                <a:ea typeface="Calibri" pitchFamily="34" charset="-122"/>
                <a:cs typeface="Calibri" pitchFamily="34" charset="-120"/>
              </a:rPr>
              <a:t>→</a:t>
            </a:r>
            <a:endParaRPr lang="en-US" sz="2800" dirty="0"/>
          </a:p>
        </p:txBody>
      </p:sp>
      <p:sp>
        <p:nvSpPr>
          <p:cNvPr id="19" name="Shape 17"/>
          <p:cNvSpPr/>
          <p:nvPr/>
        </p:nvSpPr>
        <p:spPr>
          <a:xfrm>
            <a:off x="6126480" y="3017520"/>
            <a:ext cx="2286000" cy="1005840"/>
          </a:xfrm>
          <a:prstGeom prst="roundRect">
            <a:avLst>
              <a:gd name="adj" fmla="val 9091"/>
            </a:avLst>
          </a:prstGeom>
          <a:solidFill>
            <a:srgbClr val="2F8FD0"/>
          </a:solidFill>
          <a:ln w="12700">
            <a:solidFill>
              <a:srgbClr val="2F8FD0"/>
            </a:solidFill>
            <a:prstDash val="solid"/>
          </a:ln>
        </p:spPr>
      </p:sp>
      <p:sp>
        <p:nvSpPr>
          <p:cNvPr id="20" name="Text 18"/>
          <p:cNvSpPr txBox="1"/>
          <p:nvPr/>
        </p:nvSpPr>
        <p:spPr>
          <a:xfrm>
            <a:off x="6126480" y="3017520"/>
            <a:ext cx="228600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User Action / Signal</a:t>
            </a:r>
            <a:endParaRPr lang="en-US" sz="1700" dirty="0"/>
          </a:p>
        </p:txBody>
      </p:sp>
      <p:sp>
        <p:nvSpPr>
          <p:cNvPr id="21" name="Text 19"/>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400" i="1" dirty="0">
                <a:solidFill>
                  <a:srgbClr val="4A5B73"/>
                </a:solidFill>
                <a:latin typeface="Calibri" pitchFamily="34" charset="0"/>
                <a:ea typeface="Calibri" pitchFamily="34" charset="-122"/>
                <a:cs typeface="Calibri" pitchFamily="34" charset="-120"/>
              </a:rPr>
              <a:t>Then the flow goes back to the User, who can refresh or act again.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the Tool Shows</a:t>
            </a:r>
            <a:endParaRPr lang="en-US" sz="2800" dirty="0"/>
          </a:p>
        </p:txBody>
      </p:sp>
      <p:sp>
        <p:nvSpPr>
          <p:cNvPr id="5" name="Shape 3"/>
          <p:cNvSpPr/>
          <p:nvPr/>
        </p:nvSpPr>
        <p:spPr>
          <a:xfrm>
            <a:off x="457200" y="1280160"/>
            <a:ext cx="2560320" cy="1371600"/>
          </a:xfrm>
          <a:prstGeom prst="roundRect">
            <a:avLst>
              <a:gd name="adj" fmla="val 5333"/>
            </a:avLst>
          </a:prstGeom>
          <a:solidFill>
            <a:srgbClr val="FFFFFF"/>
          </a:solidFill>
          <a:ln w="12700">
            <a:solidFill>
              <a:srgbClr val="B8D0E6"/>
            </a:solidFill>
            <a:prstDash val="solid"/>
          </a:ln>
        </p:spPr>
      </p:sp>
      <p:sp>
        <p:nvSpPr>
          <p:cNvPr id="6" name="Shape 4"/>
          <p:cNvSpPr/>
          <p:nvPr/>
        </p:nvSpPr>
        <p:spPr>
          <a:xfrm>
            <a:off x="457200" y="1417320"/>
            <a:ext cx="73152" cy="1097280"/>
          </a:xfrm>
          <a:prstGeom prst="rect">
            <a:avLst/>
          </a:prstGeom>
          <a:solidFill>
            <a:srgbClr val="FF7A66"/>
          </a:solidFill>
          <a:ln w="12700">
            <a:solidFill>
              <a:srgbClr val="FF7A66"/>
            </a:solidFill>
            <a:prstDash val="solid"/>
          </a:ln>
        </p:spPr>
      </p:sp>
      <p:sp>
        <p:nvSpPr>
          <p:cNvPr id="7" name="Text 5"/>
          <p:cNvSpPr txBox="1"/>
          <p:nvPr/>
        </p:nvSpPr>
        <p:spPr>
          <a:xfrm>
            <a:off x="731520" y="128016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PID</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Unique ID of the process</a:t>
            </a:r>
            <a:endParaRPr lang="en-US" sz="2000" dirty="0"/>
          </a:p>
        </p:txBody>
      </p:sp>
      <p:sp>
        <p:nvSpPr>
          <p:cNvPr id="8" name="Shape 6"/>
          <p:cNvSpPr/>
          <p:nvPr/>
        </p:nvSpPr>
        <p:spPr>
          <a:xfrm>
            <a:off x="3291840" y="1280160"/>
            <a:ext cx="2560320" cy="1371600"/>
          </a:xfrm>
          <a:prstGeom prst="roundRect">
            <a:avLst>
              <a:gd name="adj" fmla="val 5333"/>
            </a:avLst>
          </a:prstGeom>
          <a:solidFill>
            <a:srgbClr val="FFFFFF"/>
          </a:solidFill>
          <a:ln w="12700">
            <a:solidFill>
              <a:srgbClr val="B8D0E6"/>
            </a:solidFill>
            <a:prstDash val="solid"/>
          </a:ln>
        </p:spPr>
      </p:sp>
      <p:sp>
        <p:nvSpPr>
          <p:cNvPr id="9" name="Shape 7"/>
          <p:cNvSpPr/>
          <p:nvPr/>
        </p:nvSpPr>
        <p:spPr>
          <a:xfrm>
            <a:off x="3291840" y="1417320"/>
            <a:ext cx="73152" cy="1097280"/>
          </a:xfrm>
          <a:prstGeom prst="rect">
            <a:avLst/>
          </a:prstGeom>
          <a:solidFill>
            <a:srgbClr val="FF7A66"/>
          </a:solidFill>
          <a:ln w="12700">
            <a:solidFill>
              <a:srgbClr val="FF7A66"/>
            </a:solidFill>
            <a:prstDash val="solid"/>
          </a:ln>
        </p:spPr>
      </p:sp>
      <p:sp>
        <p:nvSpPr>
          <p:cNvPr id="10" name="Text 8"/>
          <p:cNvSpPr txBox="1"/>
          <p:nvPr/>
        </p:nvSpPr>
        <p:spPr>
          <a:xfrm>
            <a:off x="3566160" y="128016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Process Name</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Name of the program</a:t>
            </a:r>
            <a:endParaRPr lang="en-US" sz="2000" dirty="0"/>
          </a:p>
        </p:txBody>
      </p:sp>
      <p:sp>
        <p:nvSpPr>
          <p:cNvPr id="11" name="Shape 9"/>
          <p:cNvSpPr/>
          <p:nvPr/>
        </p:nvSpPr>
        <p:spPr>
          <a:xfrm>
            <a:off x="6126480" y="1280160"/>
            <a:ext cx="2560320" cy="1371600"/>
          </a:xfrm>
          <a:prstGeom prst="roundRect">
            <a:avLst>
              <a:gd name="adj" fmla="val 5333"/>
            </a:avLst>
          </a:prstGeom>
          <a:solidFill>
            <a:srgbClr val="FFFFFF"/>
          </a:solidFill>
          <a:ln w="12700">
            <a:solidFill>
              <a:srgbClr val="B8D0E6"/>
            </a:solidFill>
            <a:prstDash val="solid"/>
          </a:ln>
        </p:spPr>
      </p:sp>
      <p:sp>
        <p:nvSpPr>
          <p:cNvPr id="12" name="Shape 10"/>
          <p:cNvSpPr/>
          <p:nvPr/>
        </p:nvSpPr>
        <p:spPr>
          <a:xfrm>
            <a:off x="6126480" y="1417320"/>
            <a:ext cx="73152" cy="1097280"/>
          </a:xfrm>
          <a:prstGeom prst="rect">
            <a:avLst/>
          </a:prstGeom>
          <a:solidFill>
            <a:srgbClr val="FF7A66"/>
          </a:solidFill>
          <a:ln w="12700">
            <a:solidFill>
              <a:srgbClr val="FF7A66"/>
            </a:solidFill>
            <a:prstDash val="solid"/>
          </a:ln>
        </p:spPr>
      </p:sp>
      <p:sp>
        <p:nvSpPr>
          <p:cNvPr id="13" name="Text 11"/>
          <p:cNvSpPr txBox="1"/>
          <p:nvPr/>
        </p:nvSpPr>
        <p:spPr>
          <a:xfrm>
            <a:off x="6400800" y="128016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Process State</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Running, sleeping, etc.</a:t>
            </a:r>
            <a:endParaRPr lang="en-US" sz="2000" dirty="0"/>
          </a:p>
        </p:txBody>
      </p:sp>
      <p:sp>
        <p:nvSpPr>
          <p:cNvPr id="14" name="Shape 12"/>
          <p:cNvSpPr/>
          <p:nvPr/>
        </p:nvSpPr>
        <p:spPr>
          <a:xfrm>
            <a:off x="457200" y="2926080"/>
            <a:ext cx="2560320" cy="1371600"/>
          </a:xfrm>
          <a:prstGeom prst="roundRect">
            <a:avLst>
              <a:gd name="adj" fmla="val 5333"/>
            </a:avLst>
          </a:prstGeom>
          <a:solidFill>
            <a:srgbClr val="FFFFFF"/>
          </a:solidFill>
          <a:ln w="12700">
            <a:solidFill>
              <a:srgbClr val="B8D0E6"/>
            </a:solidFill>
            <a:prstDash val="solid"/>
          </a:ln>
        </p:spPr>
      </p:sp>
      <p:sp>
        <p:nvSpPr>
          <p:cNvPr id="15" name="Shape 13"/>
          <p:cNvSpPr/>
          <p:nvPr/>
        </p:nvSpPr>
        <p:spPr>
          <a:xfrm>
            <a:off x="457200" y="3063240"/>
            <a:ext cx="73152" cy="1097280"/>
          </a:xfrm>
          <a:prstGeom prst="rect">
            <a:avLst/>
          </a:prstGeom>
          <a:solidFill>
            <a:srgbClr val="FF7A66"/>
          </a:solidFill>
          <a:ln w="12700">
            <a:solidFill>
              <a:srgbClr val="FF7A66"/>
            </a:solidFill>
            <a:prstDash val="solid"/>
          </a:ln>
        </p:spPr>
      </p:sp>
      <p:sp>
        <p:nvSpPr>
          <p:cNvPr id="16" name="Text 14"/>
          <p:cNvSpPr txBox="1"/>
          <p:nvPr/>
        </p:nvSpPr>
        <p:spPr>
          <a:xfrm>
            <a:off x="731520" y="292608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Parent PID</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The process that started it</a:t>
            </a:r>
            <a:endParaRPr lang="en-US" sz="2000" dirty="0"/>
          </a:p>
        </p:txBody>
      </p:sp>
      <p:sp>
        <p:nvSpPr>
          <p:cNvPr id="17" name="Shape 15"/>
          <p:cNvSpPr/>
          <p:nvPr/>
        </p:nvSpPr>
        <p:spPr>
          <a:xfrm>
            <a:off x="3291840" y="2926080"/>
            <a:ext cx="2560320" cy="1371600"/>
          </a:xfrm>
          <a:prstGeom prst="roundRect">
            <a:avLst>
              <a:gd name="adj" fmla="val 5333"/>
            </a:avLst>
          </a:prstGeom>
          <a:solidFill>
            <a:srgbClr val="FFFFFF"/>
          </a:solidFill>
          <a:ln w="12700">
            <a:solidFill>
              <a:srgbClr val="B8D0E6"/>
            </a:solidFill>
            <a:prstDash val="solid"/>
          </a:ln>
        </p:spPr>
      </p:sp>
      <p:sp>
        <p:nvSpPr>
          <p:cNvPr id="18" name="Shape 16"/>
          <p:cNvSpPr/>
          <p:nvPr/>
        </p:nvSpPr>
        <p:spPr>
          <a:xfrm>
            <a:off x="3291840" y="3063240"/>
            <a:ext cx="73152" cy="1097280"/>
          </a:xfrm>
          <a:prstGeom prst="rect">
            <a:avLst/>
          </a:prstGeom>
          <a:solidFill>
            <a:srgbClr val="FF7A66"/>
          </a:solidFill>
          <a:ln w="12700">
            <a:solidFill>
              <a:srgbClr val="FF7A66"/>
            </a:solidFill>
            <a:prstDash val="solid"/>
          </a:ln>
        </p:spPr>
      </p:sp>
      <p:sp>
        <p:nvSpPr>
          <p:cNvPr id="19" name="Text 17"/>
          <p:cNvSpPr txBox="1"/>
          <p:nvPr/>
        </p:nvSpPr>
        <p:spPr>
          <a:xfrm>
            <a:off x="3566160" y="292608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CPU Usage</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How much CPU it uses</a:t>
            </a:r>
            <a:endParaRPr lang="en-US" sz="2000" dirty="0"/>
          </a:p>
        </p:txBody>
      </p:sp>
      <p:sp>
        <p:nvSpPr>
          <p:cNvPr id="20" name="Shape 18"/>
          <p:cNvSpPr/>
          <p:nvPr/>
        </p:nvSpPr>
        <p:spPr>
          <a:xfrm>
            <a:off x="6126480" y="2926080"/>
            <a:ext cx="2560320" cy="1371600"/>
          </a:xfrm>
          <a:prstGeom prst="roundRect">
            <a:avLst>
              <a:gd name="adj" fmla="val 5333"/>
            </a:avLst>
          </a:prstGeom>
          <a:solidFill>
            <a:srgbClr val="FFFFFF"/>
          </a:solidFill>
          <a:ln w="12700">
            <a:solidFill>
              <a:srgbClr val="B8D0E6"/>
            </a:solidFill>
            <a:prstDash val="solid"/>
          </a:ln>
        </p:spPr>
      </p:sp>
      <p:sp>
        <p:nvSpPr>
          <p:cNvPr id="21" name="Shape 19"/>
          <p:cNvSpPr/>
          <p:nvPr/>
        </p:nvSpPr>
        <p:spPr>
          <a:xfrm>
            <a:off x="6126480" y="3063240"/>
            <a:ext cx="73152" cy="1097280"/>
          </a:xfrm>
          <a:prstGeom prst="rect">
            <a:avLst/>
          </a:prstGeom>
          <a:solidFill>
            <a:srgbClr val="FF7A66"/>
          </a:solidFill>
          <a:ln w="12700">
            <a:solidFill>
              <a:srgbClr val="FF7A66"/>
            </a:solidFill>
            <a:prstDash val="solid"/>
          </a:ln>
        </p:spPr>
      </p:sp>
      <p:sp>
        <p:nvSpPr>
          <p:cNvPr id="22" name="Text 20"/>
          <p:cNvSpPr txBox="1"/>
          <p:nvPr/>
        </p:nvSpPr>
        <p:spPr>
          <a:xfrm>
            <a:off x="6400800" y="2926080"/>
            <a:ext cx="2194560" cy="137160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Memory Usage</a:t>
            </a:r>
            <a:endParaRPr lang="en-US" sz="2000" dirty="0"/>
          </a:p>
          <a:p>
            <a:pPr indent="0" marL="0">
              <a:buNone/>
            </a:pPr>
            <a:r>
              <a:rPr lang="en-US" sz="1500" dirty="0">
                <a:solidFill>
                  <a:srgbClr val="4A5B73"/>
                </a:solidFill>
                <a:latin typeface="Calibri" pitchFamily="34" charset="0"/>
                <a:ea typeface="Calibri" pitchFamily="34" charset="-122"/>
                <a:cs typeface="Calibri" pitchFamily="34" charset="-120"/>
              </a:rPr>
              <a:t>How much memory it uses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Signal?</a:t>
            </a:r>
            <a:endParaRPr lang="en-US" sz="2800" dirty="0"/>
          </a:p>
        </p:txBody>
      </p:sp>
      <p:sp>
        <p:nvSpPr>
          <p:cNvPr id="5" name="Text 3"/>
          <p:cNvSpPr txBox="1"/>
          <p:nvPr/>
        </p:nvSpPr>
        <p:spPr>
          <a:xfrm>
            <a:off x="457200" y="1097280"/>
            <a:ext cx="8229600" cy="548640"/>
          </a:xfrm>
          <a:prstGeom prst="rect">
            <a:avLst/>
          </a:prstGeom>
          <a:noFill/>
          <a:ln/>
        </p:spPr>
        <p:txBody>
          <a:bodyPr wrap="square" lIns="0" tIns="0" rIns="0" bIns="0" rtlCol="0" anchor="ctr"/>
          <a:lstStyle/>
          <a:p>
            <a:pPr indent="0" marL="0">
              <a:buNone/>
            </a:pPr>
            <a:r>
              <a:rPr lang="en-US" sz="2000" b="1" dirty="0">
                <a:solidFill>
                  <a:srgbClr val="1B3556"/>
                </a:solidFill>
                <a:latin typeface="Calibri" pitchFamily="34" charset="0"/>
                <a:ea typeface="Calibri" pitchFamily="34" charset="-122"/>
                <a:cs typeface="Calibri" pitchFamily="34" charset="-120"/>
              </a:rPr>
              <a:t>A signal is a short message the system sends to a running process.</a:t>
            </a:r>
            <a:endParaRPr lang="en-US" sz="2000" dirty="0"/>
          </a:p>
        </p:txBody>
      </p:sp>
      <p:sp>
        <p:nvSpPr>
          <p:cNvPr id="6" name="Text 4"/>
          <p:cNvSpPr txBox="1"/>
          <p:nvPr/>
        </p:nvSpPr>
        <p:spPr>
          <a:xfrm>
            <a:off x="457200" y="1828800"/>
            <a:ext cx="3931920" cy="1737360"/>
          </a:xfrm>
          <a:prstGeom prst="rect">
            <a:avLst/>
          </a:prstGeom>
          <a:noFill/>
          <a:ln/>
        </p:spPr>
        <p:txBody>
          <a:bodyPr wrap="square" lIns="0" tIns="0" rIns="0" bIns="0" rtlCol="0" anchor="t"/>
          <a:lstStyle/>
          <a:p>
            <a:pPr indent="0" marL="0">
              <a:buNone/>
            </a:pPr>
            <a:r>
              <a:rPr lang="en-US" sz="1700" b="1" dirty="0">
                <a:solidFill>
                  <a:srgbClr val="1F6FB5"/>
                </a:solidFill>
                <a:latin typeface="Calibri" pitchFamily="34" charset="0"/>
                <a:ea typeface="Calibri" pitchFamily="34" charset="-122"/>
                <a:cs typeface="Calibri" pitchFamily="34" charset="-120"/>
              </a:rPr>
              <a:t>SIGTERM</a:t>
            </a:r>
            <a:endParaRPr lang="en-US" sz="1700" dirty="0"/>
          </a:p>
          <a:p>
            <a:pPr indent="0" marL="0">
              <a:buNone/>
            </a:pPr>
            <a:r>
              <a:rPr lang="en-US" sz="1700" dirty="0">
                <a:solidFill>
                  <a:srgbClr val="4A5B73"/>
                </a:solidFill>
                <a:latin typeface="Calibri" pitchFamily="34" charset="0"/>
                <a:ea typeface="Calibri" pitchFamily="34" charset="-122"/>
                <a:cs typeface="Calibri" pitchFamily="34" charset="-120"/>
              </a:rPr>
              <a:t>A polite request: “Please stop.” The process can save its work and then close. This is the safe way, so we use it.</a:t>
            </a:r>
            <a:endParaRPr lang="en-US" sz="1700" dirty="0"/>
          </a:p>
        </p:txBody>
      </p:sp>
      <p:sp>
        <p:nvSpPr>
          <p:cNvPr id="7" name="Text 5"/>
          <p:cNvSpPr txBox="1"/>
          <p:nvPr/>
        </p:nvSpPr>
        <p:spPr>
          <a:xfrm>
            <a:off x="4754880" y="1828800"/>
            <a:ext cx="3931920" cy="1737360"/>
          </a:xfrm>
          <a:prstGeom prst="rect">
            <a:avLst/>
          </a:prstGeom>
          <a:noFill/>
          <a:ln/>
        </p:spPr>
        <p:txBody>
          <a:bodyPr wrap="square" lIns="0" tIns="0" rIns="0" bIns="0" rtlCol="0" anchor="t"/>
          <a:lstStyle/>
          <a:p>
            <a:pPr indent="0" marL="0">
              <a:buNone/>
            </a:pPr>
            <a:r>
              <a:rPr lang="en-US" sz="1700" b="1" dirty="0">
                <a:solidFill>
                  <a:srgbClr val="D9472F"/>
                </a:solidFill>
                <a:latin typeface="Calibri" pitchFamily="34" charset="0"/>
                <a:ea typeface="Calibri" pitchFamily="34" charset="-122"/>
                <a:cs typeface="Calibri" pitchFamily="34" charset="-120"/>
              </a:rPr>
              <a:t>SIGKILL</a:t>
            </a:r>
            <a:endParaRPr lang="en-US" sz="1700" dirty="0"/>
          </a:p>
          <a:p>
            <a:pPr indent="0" marL="0">
              <a:buNone/>
            </a:pPr>
            <a:r>
              <a:rPr lang="en-US" sz="1700" dirty="0">
                <a:solidFill>
                  <a:srgbClr val="4A5B73"/>
                </a:solidFill>
                <a:latin typeface="Calibri" pitchFamily="34" charset="0"/>
                <a:ea typeface="Calibri" pitchFamily="34" charset="-122"/>
                <a:cs typeface="Calibri" pitchFamily="34" charset="-120"/>
              </a:rPr>
              <a:t>A forced stop: “Stop right now.” The process gets no chance to clean up. We do not use it.</a:t>
            </a:r>
            <a:endParaRPr lang="en-US" sz="1700" dirty="0"/>
          </a:p>
        </p:txBody>
      </p:sp>
      <p:sp>
        <p:nvSpPr>
          <p:cNvPr id="8" name="Shape 6"/>
          <p:cNvSpPr/>
          <p:nvPr/>
        </p:nvSpPr>
        <p:spPr>
          <a:xfrm>
            <a:off x="457200" y="3749040"/>
            <a:ext cx="8229600" cy="822960"/>
          </a:xfrm>
          <a:prstGeom prst="roundRect">
            <a:avLst>
              <a:gd name="adj" fmla="val 11111"/>
            </a:avLst>
          </a:prstGeom>
          <a:solidFill>
            <a:srgbClr val="2F8FD0"/>
          </a:solidFill>
          <a:ln w="12700">
            <a:solidFill>
              <a:srgbClr val="2F8FD0"/>
            </a:solidFill>
            <a:prstDash val="solid"/>
          </a:ln>
        </p:spPr>
      </p:sp>
      <p:sp>
        <p:nvSpPr>
          <p:cNvPr id="9" name="Text 7"/>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 C we send it with kill(pid, SIGTERM). The name “kill” is just the function name.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OS Concepts and Linux APIs</a:t>
            </a:r>
            <a:endParaRPr lang="en-US" sz="2800" dirty="0"/>
          </a:p>
        </p:txBody>
      </p:sp>
      <p:sp>
        <p:nvSpPr>
          <p:cNvPr id="5" name="Shape 3"/>
          <p:cNvSpPr/>
          <p:nvPr/>
        </p:nvSpPr>
        <p:spPr>
          <a:xfrm>
            <a:off x="457200" y="1097280"/>
            <a:ext cx="4023360" cy="731520"/>
          </a:xfrm>
          <a:prstGeom prst="roundRect">
            <a:avLst>
              <a:gd name="adj" fmla="val 10000"/>
            </a:avLst>
          </a:prstGeom>
          <a:solidFill>
            <a:srgbClr val="FFFFFF"/>
          </a:solidFill>
          <a:ln w="12700">
            <a:solidFill>
              <a:srgbClr val="B8D0E6"/>
            </a:solidFill>
            <a:prstDash val="solid"/>
          </a:ln>
        </p:spPr>
      </p:sp>
      <p:sp>
        <p:nvSpPr>
          <p:cNvPr id="6" name="Text 4"/>
          <p:cNvSpPr txBox="1"/>
          <p:nvPr/>
        </p:nvSpPr>
        <p:spPr>
          <a:xfrm>
            <a:off x="640080" y="1097280"/>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/proc</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Gives process state, CPU and memory data</a:t>
            </a:r>
            <a:endParaRPr lang="en-US" sz="1400" dirty="0"/>
          </a:p>
        </p:txBody>
      </p:sp>
      <p:sp>
        <p:nvSpPr>
          <p:cNvPr id="7" name="Shape 5"/>
          <p:cNvSpPr/>
          <p:nvPr/>
        </p:nvSpPr>
        <p:spPr>
          <a:xfrm>
            <a:off x="4663440" y="1097280"/>
            <a:ext cx="4023360" cy="731520"/>
          </a:xfrm>
          <a:prstGeom prst="roundRect">
            <a:avLst>
              <a:gd name="adj" fmla="val 10000"/>
            </a:avLst>
          </a:prstGeom>
          <a:solidFill>
            <a:srgbClr val="FFFFFF"/>
          </a:solidFill>
          <a:ln w="12700">
            <a:solidFill>
              <a:srgbClr val="B8D0E6"/>
            </a:solidFill>
            <a:prstDash val="solid"/>
          </a:ln>
        </p:spPr>
      </p:sp>
      <p:sp>
        <p:nvSpPr>
          <p:cNvPr id="8" name="Text 6"/>
          <p:cNvSpPr txBox="1"/>
          <p:nvPr/>
        </p:nvSpPr>
        <p:spPr>
          <a:xfrm>
            <a:off x="4846320" y="1097280"/>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opendir() / readdir()</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Find and read the process folders</a:t>
            </a:r>
            <a:endParaRPr lang="en-US" sz="1400" dirty="0"/>
          </a:p>
        </p:txBody>
      </p:sp>
      <p:sp>
        <p:nvSpPr>
          <p:cNvPr id="9" name="Shape 7"/>
          <p:cNvSpPr/>
          <p:nvPr/>
        </p:nvSpPr>
        <p:spPr>
          <a:xfrm>
            <a:off x="457200" y="1938528"/>
            <a:ext cx="4023360" cy="731520"/>
          </a:xfrm>
          <a:prstGeom prst="roundRect">
            <a:avLst>
              <a:gd name="adj" fmla="val 10000"/>
            </a:avLst>
          </a:prstGeom>
          <a:solidFill>
            <a:srgbClr val="FFFFFF"/>
          </a:solidFill>
          <a:ln w="12700">
            <a:solidFill>
              <a:srgbClr val="B8D0E6"/>
            </a:solidFill>
            <a:prstDash val="solid"/>
          </a:ln>
        </p:spPr>
      </p:sp>
      <p:sp>
        <p:nvSpPr>
          <p:cNvPr id="10" name="Text 8"/>
          <p:cNvSpPr txBox="1"/>
          <p:nvPr/>
        </p:nvSpPr>
        <p:spPr>
          <a:xfrm>
            <a:off x="640080" y="1938528"/>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open() / read() / close()</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Read the files inside /proc</a:t>
            </a:r>
            <a:endParaRPr lang="en-US" sz="1400" dirty="0"/>
          </a:p>
        </p:txBody>
      </p:sp>
      <p:sp>
        <p:nvSpPr>
          <p:cNvPr id="11" name="Shape 9"/>
          <p:cNvSpPr/>
          <p:nvPr/>
        </p:nvSpPr>
        <p:spPr>
          <a:xfrm>
            <a:off x="4663440" y="1938528"/>
            <a:ext cx="4023360" cy="731520"/>
          </a:xfrm>
          <a:prstGeom prst="roundRect">
            <a:avLst>
              <a:gd name="adj" fmla="val 10000"/>
            </a:avLst>
          </a:prstGeom>
          <a:solidFill>
            <a:srgbClr val="FFFFFF"/>
          </a:solidFill>
          <a:ln w="12700">
            <a:solidFill>
              <a:srgbClr val="B8D0E6"/>
            </a:solidFill>
            <a:prstDash val="solid"/>
          </a:ln>
        </p:spPr>
      </p:sp>
      <p:sp>
        <p:nvSpPr>
          <p:cNvPr id="12" name="Text 10"/>
          <p:cNvSpPr txBox="1"/>
          <p:nvPr/>
        </p:nvSpPr>
        <p:spPr>
          <a:xfrm>
            <a:off x="4846320" y="1938528"/>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kill()</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Send a signal like SIGTERM</a:t>
            </a:r>
            <a:endParaRPr lang="en-US" sz="1400" dirty="0"/>
          </a:p>
        </p:txBody>
      </p:sp>
      <p:sp>
        <p:nvSpPr>
          <p:cNvPr id="13" name="Shape 11"/>
          <p:cNvSpPr/>
          <p:nvPr/>
        </p:nvSpPr>
        <p:spPr>
          <a:xfrm>
            <a:off x="457200" y="2779776"/>
            <a:ext cx="4023360" cy="731520"/>
          </a:xfrm>
          <a:prstGeom prst="roundRect">
            <a:avLst>
              <a:gd name="adj" fmla="val 10000"/>
            </a:avLst>
          </a:prstGeom>
          <a:solidFill>
            <a:srgbClr val="FFFFFF"/>
          </a:solidFill>
          <a:ln w="12700">
            <a:solidFill>
              <a:srgbClr val="B8D0E6"/>
            </a:solidFill>
            <a:prstDash val="solid"/>
          </a:ln>
        </p:spPr>
      </p:sp>
      <p:sp>
        <p:nvSpPr>
          <p:cNvPr id="14" name="Text 12"/>
          <p:cNvSpPr txBox="1"/>
          <p:nvPr/>
        </p:nvSpPr>
        <p:spPr>
          <a:xfrm>
            <a:off x="640080" y="2779776"/>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getpid()</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Get the monitor’s own PID</a:t>
            </a:r>
            <a:endParaRPr lang="en-US" sz="1400" dirty="0"/>
          </a:p>
        </p:txBody>
      </p:sp>
      <p:sp>
        <p:nvSpPr>
          <p:cNvPr id="15" name="Shape 13"/>
          <p:cNvSpPr/>
          <p:nvPr/>
        </p:nvSpPr>
        <p:spPr>
          <a:xfrm>
            <a:off x="4663440" y="2779776"/>
            <a:ext cx="4023360" cy="731520"/>
          </a:xfrm>
          <a:prstGeom prst="roundRect">
            <a:avLst>
              <a:gd name="adj" fmla="val 10000"/>
            </a:avLst>
          </a:prstGeom>
          <a:solidFill>
            <a:srgbClr val="FFFFFF"/>
          </a:solidFill>
          <a:ln w="12700">
            <a:solidFill>
              <a:srgbClr val="B8D0E6"/>
            </a:solidFill>
            <a:prstDash val="solid"/>
          </a:ln>
        </p:spPr>
      </p:sp>
      <p:sp>
        <p:nvSpPr>
          <p:cNvPr id="16" name="Text 14"/>
          <p:cNvSpPr txBox="1"/>
          <p:nvPr/>
        </p:nvSpPr>
        <p:spPr>
          <a:xfrm>
            <a:off x="4846320" y="2779776"/>
            <a:ext cx="374904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fork() / wait()</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Start a child process and wait for it</a:t>
            </a:r>
            <a:endParaRPr lang="en-US" sz="1400" dirty="0"/>
          </a:p>
        </p:txBody>
      </p:sp>
      <p:sp>
        <p:nvSpPr>
          <p:cNvPr id="17" name="Shape 15"/>
          <p:cNvSpPr/>
          <p:nvPr/>
        </p:nvSpPr>
        <p:spPr>
          <a:xfrm>
            <a:off x="457200" y="3621024"/>
            <a:ext cx="8229600" cy="731520"/>
          </a:xfrm>
          <a:prstGeom prst="roundRect">
            <a:avLst>
              <a:gd name="adj" fmla="val 10000"/>
            </a:avLst>
          </a:prstGeom>
          <a:solidFill>
            <a:srgbClr val="FFFFFF"/>
          </a:solidFill>
          <a:ln w="12700">
            <a:solidFill>
              <a:srgbClr val="B8D0E6"/>
            </a:solidFill>
            <a:prstDash val="solid"/>
          </a:ln>
        </p:spPr>
      </p:sp>
      <p:sp>
        <p:nvSpPr>
          <p:cNvPr id="18" name="Text 16"/>
          <p:cNvSpPr txBox="1"/>
          <p:nvPr/>
        </p:nvSpPr>
        <p:spPr>
          <a:xfrm>
            <a:off x="640080" y="3621024"/>
            <a:ext cx="7955280" cy="731520"/>
          </a:xfrm>
          <a:prstGeom prst="rect">
            <a:avLst/>
          </a:prstGeom>
          <a:noFill/>
          <a:ln/>
        </p:spPr>
        <p:txBody>
          <a:bodyPr wrap="square" lIns="0" tIns="0" rIns="0" bIns="0" rtlCol="0" anchor="ctr"/>
          <a:lstStyle/>
          <a:p>
            <a:pPr indent="0" marL="0">
              <a:buNone/>
            </a:pPr>
            <a:r>
              <a:rPr lang="en-US" sz="1400" b="1" dirty="0">
                <a:solidFill>
                  <a:srgbClr val="1F6FB5"/>
                </a:solidFill>
                <a:latin typeface="Calibri" pitchFamily="34" charset="0"/>
                <a:ea typeface="Calibri" pitchFamily="34" charset="-122"/>
                <a:cs typeface="Calibri" pitchFamily="34" charset="-120"/>
              </a:rPr>
              <a:t>Error handling</a:t>
            </a:r>
            <a:endParaRPr lang="en-US" sz="1400" dirty="0"/>
          </a:p>
          <a:p>
            <a:pPr indent="0" marL="0">
              <a:buNone/>
            </a:pPr>
            <a:r>
              <a:rPr lang="en-US" sz="1400" dirty="0">
                <a:solidFill>
                  <a:srgbClr val="4A5B73"/>
                </a:solidFill>
                <a:latin typeface="Calibri" pitchFamily="34" charset="0"/>
                <a:ea typeface="Calibri" pitchFamily="34" charset="-122"/>
                <a:cs typeface="Calibri" pitchFamily="34" charset="-120"/>
              </a:rPr>
              <a:t>Handle bad PIDs and no permission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Tools and Software Used</a:t>
            </a:r>
            <a:endParaRPr lang="en-US" sz="2800" dirty="0"/>
          </a:p>
        </p:txBody>
      </p:sp>
      <p:sp>
        <p:nvSpPr>
          <p:cNvPr id="5" name="Shape 3"/>
          <p:cNvSpPr/>
          <p:nvPr/>
        </p:nvSpPr>
        <p:spPr>
          <a:xfrm>
            <a:off x="457200" y="1097280"/>
            <a:ext cx="4023360" cy="777240"/>
          </a:xfrm>
          <a:prstGeom prst="roundRect">
            <a:avLst>
              <a:gd name="adj" fmla="val 9412"/>
            </a:avLst>
          </a:prstGeom>
          <a:solidFill>
            <a:srgbClr val="FFFFFF"/>
          </a:solidFill>
          <a:ln w="12700">
            <a:solidFill>
              <a:srgbClr val="B8D0E6"/>
            </a:solidFill>
            <a:prstDash val="solid"/>
          </a:ln>
        </p:spPr>
      </p:sp>
      <p:sp>
        <p:nvSpPr>
          <p:cNvPr id="6" name="Shape 4"/>
          <p:cNvSpPr/>
          <p:nvPr/>
        </p:nvSpPr>
        <p:spPr>
          <a:xfrm>
            <a:off x="457200" y="1234440"/>
            <a:ext cx="73152" cy="502920"/>
          </a:xfrm>
          <a:prstGeom prst="rect">
            <a:avLst/>
          </a:prstGeom>
          <a:solidFill>
            <a:srgbClr val="FF7A66"/>
          </a:solidFill>
          <a:ln w="12700">
            <a:solidFill>
              <a:srgbClr val="FF7A66"/>
            </a:solidFill>
            <a:prstDash val="solid"/>
          </a:ln>
        </p:spPr>
      </p:sp>
      <p:sp>
        <p:nvSpPr>
          <p:cNvPr id="7" name="Text 5"/>
          <p:cNvSpPr txBox="1"/>
          <p:nvPr/>
        </p:nvSpPr>
        <p:spPr>
          <a:xfrm>
            <a:off x="731520" y="109728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Linux / Ubuntu</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Where we build and run the tool</a:t>
            </a:r>
            <a:endParaRPr lang="en-US" sz="1600" dirty="0"/>
          </a:p>
        </p:txBody>
      </p:sp>
      <p:sp>
        <p:nvSpPr>
          <p:cNvPr id="8" name="Shape 6"/>
          <p:cNvSpPr/>
          <p:nvPr/>
        </p:nvSpPr>
        <p:spPr>
          <a:xfrm>
            <a:off x="4663440" y="1097280"/>
            <a:ext cx="4023360" cy="777240"/>
          </a:xfrm>
          <a:prstGeom prst="roundRect">
            <a:avLst>
              <a:gd name="adj" fmla="val 9412"/>
            </a:avLst>
          </a:prstGeom>
          <a:solidFill>
            <a:srgbClr val="FFFFFF"/>
          </a:solidFill>
          <a:ln w="12700">
            <a:solidFill>
              <a:srgbClr val="B8D0E6"/>
            </a:solidFill>
            <a:prstDash val="solid"/>
          </a:ln>
        </p:spPr>
      </p:sp>
      <p:sp>
        <p:nvSpPr>
          <p:cNvPr id="9" name="Shape 7"/>
          <p:cNvSpPr/>
          <p:nvPr/>
        </p:nvSpPr>
        <p:spPr>
          <a:xfrm>
            <a:off x="4663440" y="1234440"/>
            <a:ext cx="73152" cy="502920"/>
          </a:xfrm>
          <a:prstGeom prst="rect">
            <a:avLst/>
          </a:prstGeom>
          <a:solidFill>
            <a:srgbClr val="FF7A66"/>
          </a:solidFill>
          <a:ln w="12700">
            <a:solidFill>
              <a:srgbClr val="FF7A66"/>
            </a:solidFill>
            <a:prstDash val="solid"/>
          </a:ln>
        </p:spPr>
      </p:sp>
      <p:sp>
        <p:nvSpPr>
          <p:cNvPr id="10" name="Text 8"/>
          <p:cNvSpPr txBox="1"/>
          <p:nvPr/>
        </p:nvSpPr>
        <p:spPr>
          <a:xfrm>
            <a:off x="4937760" y="109728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C / C++</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To write the code</a:t>
            </a:r>
            <a:endParaRPr lang="en-US" sz="1600" dirty="0"/>
          </a:p>
        </p:txBody>
      </p:sp>
      <p:sp>
        <p:nvSpPr>
          <p:cNvPr id="11" name="Shape 9"/>
          <p:cNvSpPr/>
          <p:nvPr/>
        </p:nvSpPr>
        <p:spPr>
          <a:xfrm>
            <a:off x="457200" y="2057400"/>
            <a:ext cx="4023360" cy="777240"/>
          </a:xfrm>
          <a:prstGeom prst="roundRect">
            <a:avLst>
              <a:gd name="adj" fmla="val 9412"/>
            </a:avLst>
          </a:prstGeom>
          <a:solidFill>
            <a:srgbClr val="FFFFFF"/>
          </a:solidFill>
          <a:ln w="12700">
            <a:solidFill>
              <a:srgbClr val="B8D0E6"/>
            </a:solidFill>
            <a:prstDash val="solid"/>
          </a:ln>
        </p:spPr>
      </p:sp>
      <p:sp>
        <p:nvSpPr>
          <p:cNvPr id="12" name="Shape 10"/>
          <p:cNvSpPr/>
          <p:nvPr/>
        </p:nvSpPr>
        <p:spPr>
          <a:xfrm>
            <a:off x="457200" y="2194560"/>
            <a:ext cx="73152" cy="502920"/>
          </a:xfrm>
          <a:prstGeom prst="rect">
            <a:avLst/>
          </a:prstGeom>
          <a:solidFill>
            <a:srgbClr val="FF7A66"/>
          </a:solidFill>
          <a:ln w="12700">
            <a:solidFill>
              <a:srgbClr val="FF7A66"/>
            </a:solidFill>
            <a:prstDash val="solid"/>
          </a:ln>
        </p:spPr>
      </p:sp>
      <p:sp>
        <p:nvSpPr>
          <p:cNvPr id="13" name="Text 11"/>
          <p:cNvSpPr txBox="1"/>
          <p:nvPr/>
        </p:nvSpPr>
        <p:spPr>
          <a:xfrm>
            <a:off x="731520" y="205740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GCC</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Turns the C code into a program</a:t>
            </a:r>
            <a:endParaRPr lang="en-US" sz="1600" dirty="0"/>
          </a:p>
        </p:txBody>
      </p:sp>
      <p:sp>
        <p:nvSpPr>
          <p:cNvPr id="14" name="Shape 12"/>
          <p:cNvSpPr/>
          <p:nvPr/>
        </p:nvSpPr>
        <p:spPr>
          <a:xfrm>
            <a:off x="4663440" y="2057400"/>
            <a:ext cx="4023360" cy="777240"/>
          </a:xfrm>
          <a:prstGeom prst="roundRect">
            <a:avLst>
              <a:gd name="adj" fmla="val 9412"/>
            </a:avLst>
          </a:prstGeom>
          <a:solidFill>
            <a:srgbClr val="FFFFFF"/>
          </a:solidFill>
          <a:ln w="12700">
            <a:solidFill>
              <a:srgbClr val="B8D0E6"/>
            </a:solidFill>
            <a:prstDash val="solid"/>
          </a:ln>
        </p:spPr>
      </p:sp>
      <p:sp>
        <p:nvSpPr>
          <p:cNvPr id="15" name="Shape 13"/>
          <p:cNvSpPr/>
          <p:nvPr/>
        </p:nvSpPr>
        <p:spPr>
          <a:xfrm>
            <a:off x="4663440" y="2194560"/>
            <a:ext cx="73152" cy="502920"/>
          </a:xfrm>
          <a:prstGeom prst="rect">
            <a:avLst/>
          </a:prstGeom>
          <a:solidFill>
            <a:srgbClr val="FF7A66"/>
          </a:solidFill>
          <a:ln w="12700">
            <a:solidFill>
              <a:srgbClr val="FF7A66"/>
            </a:solidFill>
            <a:prstDash val="solid"/>
          </a:ln>
        </p:spPr>
      </p:sp>
      <p:sp>
        <p:nvSpPr>
          <p:cNvPr id="16" name="Text 14"/>
          <p:cNvSpPr txBox="1"/>
          <p:nvPr/>
        </p:nvSpPr>
        <p:spPr>
          <a:xfrm>
            <a:off x="4937760" y="205740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POSIX APIs</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Standard Linux functions</a:t>
            </a:r>
            <a:endParaRPr lang="en-US" sz="1600" dirty="0"/>
          </a:p>
        </p:txBody>
      </p:sp>
      <p:sp>
        <p:nvSpPr>
          <p:cNvPr id="17" name="Shape 15"/>
          <p:cNvSpPr/>
          <p:nvPr/>
        </p:nvSpPr>
        <p:spPr>
          <a:xfrm>
            <a:off x="457200" y="3017520"/>
            <a:ext cx="4023360" cy="777240"/>
          </a:xfrm>
          <a:prstGeom prst="roundRect">
            <a:avLst>
              <a:gd name="adj" fmla="val 9412"/>
            </a:avLst>
          </a:prstGeom>
          <a:solidFill>
            <a:srgbClr val="FFFFFF"/>
          </a:solidFill>
          <a:ln w="12700">
            <a:solidFill>
              <a:srgbClr val="B8D0E6"/>
            </a:solidFill>
            <a:prstDash val="solid"/>
          </a:ln>
        </p:spPr>
      </p:sp>
      <p:sp>
        <p:nvSpPr>
          <p:cNvPr id="18" name="Shape 16"/>
          <p:cNvSpPr/>
          <p:nvPr/>
        </p:nvSpPr>
        <p:spPr>
          <a:xfrm>
            <a:off x="457200" y="3154680"/>
            <a:ext cx="73152" cy="502920"/>
          </a:xfrm>
          <a:prstGeom prst="rect">
            <a:avLst/>
          </a:prstGeom>
          <a:solidFill>
            <a:srgbClr val="FF7A66"/>
          </a:solidFill>
          <a:ln w="12700">
            <a:solidFill>
              <a:srgbClr val="FF7A66"/>
            </a:solidFill>
            <a:prstDash val="solid"/>
          </a:ln>
        </p:spPr>
      </p:sp>
      <p:sp>
        <p:nvSpPr>
          <p:cNvPr id="19" name="Text 17"/>
          <p:cNvSpPr txBox="1"/>
          <p:nvPr/>
        </p:nvSpPr>
        <p:spPr>
          <a:xfrm>
            <a:off x="731520" y="301752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Linux /proc</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Live process data from the kernel</a:t>
            </a:r>
            <a:endParaRPr lang="en-US" sz="1600" dirty="0"/>
          </a:p>
        </p:txBody>
      </p:sp>
      <p:sp>
        <p:nvSpPr>
          <p:cNvPr id="20" name="Shape 18"/>
          <p:cNvSpPr/>
          <p:nvPr/>
        </p:nvSpPr>
        <p:spPr>
          <a:xfrm>
            <a:off x="4663440" y="3017520"/>
            <a:ext cx="4023360" cy="777240"/>
          </a:xfrm>
          <a:prstGeom prst="roundRect">
            <a:avLst>
              <a:gd name="adj" fmla="val 9412"/>
            </a:avLst>
          </a:prstGeom>
          <a:solidFill>
            <a:srgbClr val="FFFFFF"/>
          </a:solidFill>
          <a:ln w="12700">
            <a:solidFill>
              <a:srgbClr val="B8D0E6"/>
            </a:solidFill>
            <a:prstDash val="solid"/>
          </a:ln>
        </p:spPr>
      </p:sp>
      <p:sp>
        <p:nvSpPr>
          <p:cNvPr id="21" name="Shape 19"/>
          <p:cNvSpPr/>
          <p:nvPr/>
        </p:nvSpPr>
        <p:spPr>
          <a:xfrm>
            <a:off x="4663440" y="3154680"/>
            <a:ext cx="73152" cy="502920"/>
          </a:xfrm>
          <a:prstGeom prst="rect">
            <a:avLst/>
          </a:prstGeom>
          <a:solidFill>
            <a:srgbClr val="FF7A66"/>
          </a:solidFill>
          <a:ln w="12700">
            <a:solidFill>
              <a:srgbClr val="FF7A66"/>
            </a:solidFill>
            <a:prstDash val="solid"/>
          </a:ln>
        </p:spPr>
      </p:sp>
      <p:sp>
        <p:nvSpPr>
          <p:cNvPr id="22" name="Text 20"/>
          <p:cNvSpPr txBox="1"/>
          <p:nvPr/>
        </p:nvSpPr>
        <p:spPr>
          <a:xfrm>
            <a:off x="4937760" y="3017520"/>
            <a:ext cx="3657600" cy="777240"/>
          </a:xfrm>
          <a:prstGeom prst="rect">
            <a:avLst/>
          </a:prstGeom>
          <a:noFill/>
          <a:ln/>
        </p:spPr>
        <p:txBody>
          <a:bodyPr wrap="square" lIns="0" tIns="0" rIns="0" bIns="0" rtlCol="0" anchor="ctr"/>
          <a:lstStyle/>
          <a:p>
            <a:pPr indent="0" marL="0">
              <a:buNone/>
            </a:pPr>
            <a:r>
              <a:rPr lang="en-US" sz="1600" b="1" dirty="0">
                <a:solidFill>
                  <a:srgbClr val="1B3556"/>
                </a:solidFill>
                <a:latin typeface="Calibri" pitchFamily="34" charset="0"/>
                <a:ea typeface="Calibri" pitchFamily="34" charset="-122"/>
                <a:cs typeface="Calibri" pitchFamily="34" charset="-120"/>
              </a:rPr>
              <a:t>System Calls</a:t>
            </a:r>
            <a:endParaRPr lang="en-US" sz="1600" dirty="0"/>
          </a:p>
          <a:p>
            <a:pPr indent="0" marL="0">
              <a:buNone/>
            </a:pPr>
            <a:r>
              <a:rPr lang="en-US" sz="1500" dirty="0">
                <a:solidFill>
                  <a:srgbClr val="4A5B73"/>
                </a:solidFill>
                <a:latin typeface="Calibri" pitchFamily="34" charset="0"/>
                <a:ea typeface="Calibri" pitchFamily="34" charset="-122"/>
                <a:cs typeface="Calibri" pitchFamily="34" charset="-120"/>
              </a:rPr>
              <a:t>Files, signals, processes</a:t>
            </a:r>
            <a:endParaRPr lang="en-US" sz="1600" dirty="0"/>
          </a:p>
        </p:txBody>
      </p:sp>
      <p:sp>
        <p:nvSpPr>
          <p:cNvPr id="23" name="Text 21"/>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500" b="1" dirty="0">
                <a:solidFill>
                  <a:srgbClr val="1B3556"/>
                </a:solidFill>
                <a:latin typeface="Calibri" pitchFamily="34" charset="0"/>
                <a:ea typeface="Calibri" pitchFamily="34" charset="-122"/>
                <a:cs typeface="Calibri" pitchFamily="34" charset="-120"/>
              </a:rPr>
              <a:t>Git / GitHub  –  Save code and work as a team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0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5A9E"/>
          </a:solidFill>
          <a:ln w="12700">
            <a:solidFill>
              <a:srgbClr val="1F5A9E"/>
            </a:solidFill>
            <a:prstDash val="solid"/>
          </a:ln>
        </p:spPr>
      </p:sp>
      <p:sp>
        <p:nvSpPr>
          <p:cNvPr id="3" name="Shape 1"/>
          <p:cNvSpPr/>
          <p:nvPr/>
        </p:nvSpPr>
        <p:spPr>
          <a:xfrm>
            <a:off x="0" y="822960"/>
            <a:ext cx="9144000" cy="64008"/>
          </a:xfrm>
          <a:prstGeom prst="rect">
            <a:avLst/>
          </a:prstGeom>
          <a:solidFill>
            <a:srgbClr val="5BB3F0"/>
          </a:solidFill>
          <a:ln w="12700">
            <a:solidFill>
              <a:srgbClr val="5BB3F0"/>
            </a:solidFill>
            <a:prstDash val="solid"/>
          </a:ln>
        </p:spPr>
      </p:sp>
      <p:sp>
        <p:nvSpPr>
          <p:cNvPr id="4" name="Text 2"/>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Expected Outcome</a:t>
            </a:r>
            <a:endParaRPr lang="en-US" sz="2800" dirty="0"/>
          </a:p>
        </p:txBody>
      </p:sp>
      <p:sp>
        <p:nvSpPr>
          <p:cNvPr id="5" name="Text 3"/>
          <p:cNvSpPr txBox="1"/>
          <p:nvPr/>
        </p:nvSpPr>
        <p:spPr>
          <a:xfrm>
            <a:off x="548640" y="1188720"/>
            <a:ext cx="8046720" cy="3474720"/>
          </a:xfrm>
          <a:prstGeom prst="rect">
            <a:avLst/>
          </a:prstGeom>
          <a:noFill/>
          <a:ln/>
        </p:spPr>
        <p:txBody>
          <a:bodyPr wrap="square" lIns="0" tIns="0" rIns="0" bIns="0" rtlCol="0" anchor="ctr"/>
          <a:lstStyle/>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A working Linux terminal app that lists running processes clearly.</a:t>
            </a:r>
            <a:endParaRPr lang="en-US" sz="1800" dirty="0"/>
          </a:p>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Shows PID, name, state, parent PID, CPU and memory.</a:t>
            </a:r>
            <a:endParaRPr lang="en-US" sz="1800" dirty="0"/>
          </a:p>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Users can refresh, search by PID or name, and see full details.</a:t>
            </a:r>
            <a:endParaRPr lang="en-US" sz="1800" dirty="0"/>
          </a:p>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Users can safely stop a process with SIGTERM.</a:t>
            </a:r>
            <a:endParaRPr lang="en-US" sz="1800" dirty="0"/>
          </a:p>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Clear error messages for wrong PID or no permission.</a:t>
            </a:r>
            <a:endParaRPr lang="en-US" sz="1800" dirty="0"/>
          </a:p>
          <a:p>
            <a:pPr marL="342900" indent="-342900">
              <a:spcAft>
                <a:spcPts val="1000"/>
              </a:spcAft>
              <a:buSzPct val="100000"/>
              <a:buChar char="•"/>
            </a:pPr>
            <a:r>
              <a:rPr lang="en-US" sz="1800" dirty="0">
                <a:solidFill>
                  <a:srgbClr val="1B3556"/>
                </a:solidFill>
                <a:latin typeface="Calibri" pitchFamily="34" charset="0"/>
                <a:ea typeface="Calibri" pitchFamily="34" charset="-122"/>
                <a:cs typeface="Calibri" pitchFamily="34" charset="-120"/>
              </a:rPr>
              <a:t>A light tool that shows how process monitors work inside.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cean Breeze">
      <a:dk1>
        <a:sysClr val="windowText" lastClr="000000"/>
      </a:dk1>
      <a:lt1>
        <a:sysClr val="window" lastClr="FFFFFF"/>
      </a:lt1>
      <a:dk2>
        <a:srgbClr val="1F5A9E"/>
      </a:dk2>
      <a:lt2>
        <a:srgbClr val="E3F0FA"/>
      </a:lt2>
      <a:accent1>
        <a:srgbClr val="2F8FD0"/>
      </a:accent1>
      <a:accent2>
        <a:srgbClr val="FF7A66"/>
      </a:accent2>
      <a:accent3>
        <a:srgbClr val="5BB3F0"/>
      </a:accent3>
      <a:accent4>
        <a:srgbClr val="1F5A9E"/>
      </a:accent4>
      <a:accent5>
        <a:srgbClr val="B8D0E6"/>
      </a:accent5>
      <a:accent6>
        <a:srgbClr val="D9472F"/>
      </a:accent6>
      <a:hlink>
        <a:srgbClr val="1F6FB5"/>
      </a:hlink>
      <a:folHlink>
        <a:srgbClr val="FF7A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Process Resource Monitoring System</dc:title>
  <dc:subject>PptxGenJS Presentation</dc:subject>
  <dc:creator>PptxGenJS</dc:creator>
  <cp:lastModifiedBy>PptxGenJS</cp:lastModifiedBy>
  <cp:revision>1</cp:revision>
  <dcterms:created xsi:type="dcterms:W3CDTF">2026-10-05T03:55:19Z</dcterms:created>
  <dcterms:modified xsi:type="dcterms:W3CDTF">2026-10-05T03:55:19Z</dcterms:modified>
</cp:coreProperties>
</file>